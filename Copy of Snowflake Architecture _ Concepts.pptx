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34" r:id="rId3"/>
    <p:sldId id="335" r:id="rId4"/>
    <p:sldId id="276" r:id="rId5"/>
    <p:sldId id="336" r:id="rId6"/>
    <p:sldId id="337" r:id="rId7"/>
    <p:sldId id="342" r:id="rId8"/>
    <p:sldId id="285" r:id="rId9"/>
    <p:sldId id="338" r:id="rId10"/>
    <p:sldId id="339" r:id="rId11"/>
    <p:sldId id="340" r:id="rId12"/>
    <p:sldId id="271" r:id="rId13"/>
    <p:sldId id="272" r:id="rId14"/>
    <p:sldId id="273" r:id="rId15"/>
    <p:sldId id="341" r:id="rId16"/>
    <p:sldId id="260" r:id="rId17"/>
    <p:sldId id="259" r:id="rId18"/>
    <p:sldId id="261" r:id="rId19"/>
    <p:sldId id="262" r:id="rId20"/>
    <p:sldId id="263" r:id="rId21"/>
    <p:sldId id="264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C195-3E2C-4BB1-9442-B0FF17AED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9176B-B81E-4408-90F9-8382CCBE6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00E4-A111-4352-8673-036DE26A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9785D-A99B-48AE-9287-6D9BF011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4FFB2-7C7D-471E-BF54-1D01E347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4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FD6F-CF7B-4E59-AFDE-39A01034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B38E-4187-4653-BAB4-5C67803C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193C6-042F-4B12-9CE1-B94182B8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DA221-DBF4-4057-8896-5ABE9F32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F82C-8AC9-4C4C-A002-51BE4751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17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1CED-0D4E-46DD-8544-506F7416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236C5-EA79-4E72-BFC0-35921E53B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8D78A-E1A9-4879-A808-4A9EC9B9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365D-9CFA-436C-B293-25A6836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1E07-5365-4D7A-A81F-3B2F862E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73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8566-2C75-467A-A57E-9E503131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C1BA-1F8B-4075-970D-2089F84E7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58A74-0679-4D3A-8577-1FB85FDF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A5453-220C-4D99-8340-5BE0E034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D00A-2D06-4AC7-841D-F4946FB2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77D1C-717A-4A24-AB79-836404AF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36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E112-C90F-4C4A-853A-3B7756ABE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C0118-ABA7-459E-9DE2-E077359C3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C3CC4-6DB5-468D-A93A-CFC557C91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71474-5377-46A2-8F15-945570E02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E12D5-5382-4919-A2CC-6E085E373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D52DD-D2CE-457F-8A83-CC669F81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FCDFAE-A697-46EA-9620-F9F0C274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C783F-32D6-41EA-A8DB-63F53204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24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37A6-EB46-4838-9224-B4EDFDA8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3E720-0D13-4727-8061-AFD116EE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AE0A9-2945-400D-AD52-F48978FB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965DF-0A57-42BF-AA3C-E760D394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1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F9225-C1CC-435E-AE6B-8E822256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FCD00-3A26-4EE6-A27D-7645869B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5EB1B-5D18-4EBE-9F75-EA84A803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19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98FB-8F1C-4BC9-8957-428DD609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2CB9-757B-4106-A76A-FB5B96BC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E150F-57D3-443C-AC39-CDB32B6AE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F9252-C291-42FE-86E0-403DD2BE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5E945-811C-443A-9032-8B7E210F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C71ED-22D9-43C9-8163-C96B733F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3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62AA-AAC3-41F7-8EE6-1E9B2D88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165E5-E570-4E88-9598-EA919A44A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04F7C-B5A1-4C17-80D4-768C1591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5222E-40F8-46EB-8081-02B22F1B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20577-510E-4FA0-B682-4C3E5C34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ACAB7-3934-48D4-9718-E1E8A3D7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6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D823-DE35-4AA4-BF5B-841A48E6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254A7-DAFC-4738-87D7-E4DA9A11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D2E1A-FF4F-4011-A9A4-7D1718D9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9850-78B7-4EF6-B995-C068AAFB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5977E-138E-4CA6-800F-47BCDFFD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12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C80D8-3290-4D3A-BFEA-41FEEBC61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4D4E8-4158-4296-9069-E36E79ED6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7D674-3F9F-4F2B-8512-BDE953A0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AF77-693C-4CDB-A884-C1471C31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8A3A6-5518-4846-9B63-33F66682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8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3708B-18C5-454A-8AA1-C7CCB60F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6E8C8-A5DD-4FE5-98D8-6537E03A2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3DF3E-135C-4ED8-80CD-BA2D771EA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7B113-8691-4954-A760-17F0519E9C31}" type="datetimeFigureOut">
              <a:rPr lang="en-IN" smtClean="0"/>
              <a:t>05-09-2020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60D5-E3A6-4CD0-900A-76605C8A8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76D2-A059-4DEA-9FD4-2F46A0266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98E4A-7BE1-422A-879D-5E528771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62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nowflake.com/pric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Concepts &amp;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773723"/>
            <a:ext cx="12125325" cy="6084276"/>
          </a:xfrm>
        </p:spPr>
        <p:txBody>
          <a:bodyPr/>
          <a:lstStyle/>
          <a:p>
            <a:r>
              <a:rPr lang="en-IN" dirty="0"/>
              <a:t>What is Snowflake</a:t>
            </a:r>
          </a:p>
          <a:p>
            <a:pPr lvl="1"/>
            <a:r>
              <a:rPr lang="en-US" dirty="0"/>
              <a:t>Snowflake is an analytic data warehouse provided as Software-as-a-Service (SaaS). Snowflake provides a data warehouse that is faster, easier to use, and far more flexible than traditional data warehouse offerings.</a:t>
            </a:r>
          </a:p>
          <a:p>
            <a:endParaRPr lang="en-US" dirty="0"/>
          </a:p>
          <a:p>
            <a:r>
              <a:rPr lang="en-US" dirty="0"/>
              <a:t>Data Warehouse as a Cloud Service</a:t>
            </a:r>
          </a:p>
          <a:p>
            <a:pPr lvl="1"/>
            <a:r>
              <a:rPr lang="en-US" dirty="0"/>
              <a:t>There is no hardware (virtual or physical) for you to select, install, configure, or manage.</a:t>
            </a:r>
          </a:p>
          <a:p>
            <a:pPr lvl="1"/>
            <a:r>
              <a:rPr lang="en-US" dirty="0"/>
              <a:t>There is no software for you to install, configure, or manage.</a:t>
            </a:r>
          </a:p>
          <a:p>
            <a:pPr lvl="1"/>
            <a:r>
              <a:rPr lang="en-US" dirty="0"/>
              <a:t>Ongoing maintenance, management, and tuning is handled by Snowflake</a:t>
            </a:r>
          </a:p>
          <a:p>
            <a:pPr lvl="1"/>
            <a:r>
              <a:rPr lang="en-US" dirty="0"/>
              <a:t>Snowflake runs completely on cloud infrastructure</a:t>
            </a:r>
          </a:p>
          <a:p>
            <a:pPr lvl="1"/>
            <a:r>
              <a:rPr lang="en-US" dirty="0"/>
              <a:t> Snowflake manages all aspects of software installation and updates.</a:t>
            </a:r>
          </a:p>
          <a:p>
            <a:pPr lvl="1"/>
            <a:r>
              <a:rPr lang="en-US" dirty="0"/>
              <a:t>SAAS – Software as a service</a:t>
            </a:r>
          </a:p>
          <a:p>
            <a:pPr lvl="1"/>
            <a:r>
              <a:rPr lang="en-US" dirty="0"/>
              <a:t>Snowflake cannot be run on private cloud infrastructures (on-premises or hosted)</a:t>
            </a:r>
          </a:p>
          <a:p>
            <a:pPr lvl="1"/>
            <a:r>
              <a:rPr lang="en-US" dirty="0"/>
              <a:t>Snowflake is not a packaged software offering that can be installed by a user. Snowflake manages all aspects of software installation and updates</a:t>
            </a:r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63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859" y="1315877"/>
            <a:ext cx="6818820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IN" sz="3200" b="1" spc="-13" dirty="0">
                <a:latin typeface="Calibri"/>
                <a:cs typeface="Calibri"/>
              </a:rPr>
              <a:t>Snowflake </a:t>
            </a:r>
            <a:r>
              <a:rPr sz="3200" b="1" spc="-27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Architecture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859" y="2543221"/>
            <a:ext cx="5484705" cy="4152053"/>
          </a:xfrm>
          <a:custGeom>
            <a:avLst/>
            <a:gdLst/>
            <a:ahLst/>
            <a:cxnLst/>
            <a:rect l="l" t="t" r="r" b="b"/>
            <a:pathLst>
              <a:path w="4113529" h="3114040">
                <a:moveTo>
                  <a:pt x="0" y="3113532"/>
                </a:moveTo>
                <a:lnTo>
                  <a:pt x="4113276" y="3113532"/>
                </a:lnTo>
                <a:lnTo>
                  <a:pt x="4113276" y="0"/>
                </a:lnTo>
                <a:lnTo>
                  <a:pt x="0" y="0"/>
                </a:lnTo>
                <a:lnTo>
                  <a:pt x="0" y="3113532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057806" y="4292943"/>
            <a:ext cx="123105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indent="-3387" algn="ctr">
              <a:spcBef>
                <a:spcPts val="133"/>
              </a:spcBef>
            </a:pPr>
            <a:r>
              <a:rPr sz="1600" spc="-7" dirty="0">
                <a:latin typeface="Calibri Light"/>
                <a:cs typeface="Calibri Light"/>
              </a:rPr>
              <a:t>Shared-disk  </a:t>
            </a:r>
            <a:r>
              <a:rPr sz="1600" spc="-13" dirty="0">
                <a:latin typeface="Calibri Light"/>
                <a:cs typeface="Calibri Light"/>
              </a:rPr>
              <a:t>Shared</a:t>
            </a:r>
            <a:r>
              <a:rPr sz="1600" spc="-53" dirty="0">
                <a:latin typeface="Calibri Light"/>
                <a:cs typeface="Calibri Light"/>
              </a:rPr>
              <a:t> </a:t>
            </a:r>
            <a:r>
              <a:rPr sz="1600" spc="-20" dirty="0">
                <a:latin typeface="Calibri Light"/>
                <a:cs typeface="Calibri Light"/>
              </a:rPr>
              <a:t>storage  </a:t>
            </a:r>
            <a:r>
              <a:rPr sz="1600" spc="-7" dirty="0">
                <a:latin typeface="Calibri Light"/>
                <a:cs typeface="Calibri Light"/>
              </a:rPr>
              <a:t>Single</a:t>
            </a:r>
            <a:r>
              <a:rPr sz="1600" spc="-60" dirty="0">
                <a:latin typeface="Calibri Light"/>
                <a:cs typeface="Calibri Light"/>
              </a:rPr>
              <a:t> </a:t>
            </a:r>
            <a:r>
              <a:rPr sz="1600" spc="-7" dirty="0">
                <a:latin typeface="Calibri Light"/>
                <a:cs typeface="Calibri Light"/>
              </a:rPr>
              <a:t>cluster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6491" y="4292943"/>
            <a:ext cx="225213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indent="-4233" algn="ctr">
              <a:spcBef>
                <a:spcPts val="133"/>
              </a:spcBef>
            </a:pPr>
            <a:r>
              <a:rPr sz="1600" spc="-7" dirty="0">
                <a:latin typeface="Calibri Light"/>
                <a:cs typeface="Calibri Light"/>
              </a:rPr>
              <a:t>Shared-nothing  </a:t>
            </a:r>
            <a:r>
              <a:rPr sz="1600" spc="-13" dirty="0">
                <a:latin typeface="Calibri Light"/>
                <a:cs typeface="Calibri Light"/>
              </a:rPr>
              <a:t>Decentralized, </a:t>
            </a:r>
            <a:r>
              <a:rPr sz="1600" spc="-7" dirty="0">
                <a:latin typeface="Calibri Light"/>
                <a:cs typeface="Calibri Light"/>
              </a:rPr>
              <a:t>local</a:t>
            </a:r>
            <a:r>
              <a:rPr sz="1600" spc="-47" dirty="0">
                <a:latin typeface="Calibri Light"/>
                <a:cs typeface="Calibri Light"/>
              </a:rPr>
              <a:t> </a:t>
            </a:r>
            <a:r>
              <a:rPr sz="1600" spc="-13" dirty="0">
                <a:latin typeface="Calibri Light"/>
                <a:cs typeface="Calibri Light"/>
              </a:rPr>
              <a:t>storage  </a:t>
            </a:r>
            <a:r>
              <a:rPr sz="1600" spc="-7" dirty="0">
                <a:latin typeface="Calibri Light"/>
                <a:cs typeface="Calibri Light"/>
              </a:rPr>
              <a:t>Single</a:t>
            </a:r>
            <a:r>
              <a:rPr sz="1600" spc="-27" dirty="0">
                <a:latin typeface="Calibri Light"/>
                <a:cs typeface="Calibri Light"/>
              </a:rPr>
              <a:t> </a:t>
            </a:r>
            <a:r>
              <a:rPr sz="1600" spc="-7" dirty="0">
                <a:latin typeface="Calibri Light"/>
                <a:cs typeface="Calibri Light"/>
              </a:rPr>
              <a:t>cluster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2251" y="2543222"/>
            <a:ext cx="5484705" cy="3946658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1381724">
              <a:spcBef>
                <a:spcPts val="1627"/>
              </a:spcBef>
            </a:pPr>
            <a:endParaRPr lang="en-IN" sz="2133" spc="-33" dirty="0">
              <a:latin typeface="Calibri Light"/>
              <a:cs typeface="Calibri Light"/>
            </a:endParaRPr>
          </a:p>
          <a:p>
            <a:pPr marL="1381724">
              <a:spcBef>
                <a:spcPts val="1627"/>
              </a:spcBef>
            </a:pPr>
            <a:r>
              <a:rPr sz="2133" spc="-33" dirty="0">
                <a:latin typeface="Calibri Light"/>
                <a:cs typeface="Calibri Light"/>
              </a:rPr>
              <a:t>Multi-cluster, </a:t>
            </a:r>
            <a:r>
              <a:rPr sz="2133" spc="-20" dirty="0">
                <a:latin typeface="Calibri Light"/>
                <a:cs typeface="Calibri Light"/>
              </a:rPr>
              <a:t>shared</a:t>
            </a:r>
            <a:r>
              <a:rPr sz="2133" spc="-140" dirty="0">
                <a:latin typeface="Calibri Light"/>
                <a:cs typeface="Calibri Light"/>
              </a:rPr>
              <a:t> </a:t>
            </a:r>
            <a:r>
              <a:rPr sz="2133" spc="-27" dirty="0">
                <a:latin typeface="Calibri Light"/>
                <a:cs typeface="Calibri Light"/>
              </a:rPr>
              <a:t>data</a:t>
            </a:r>
            <a:endParaRPr sz="2133" dirty="0">
              <a:latin typeface="Calibri Light"/>
              <a:cs typeface="Calibri Light"/>
            </a:endParaRPr>
          </a:p>
          <a:p>
            <a:pPr marL="1109106" marR="1098098" indent="434329">
              <a:spcBef>
                <a:spcPts val="693"/>
              </a:spcBef>
            </a:pPr>
            <a:r>
              <a:rPr sz="1600" spc="-13" dirty="0">
                <a:latin typeface="Calibri Light"/>
                <a:cs typeface="Calibri Light"/>
              </a:rPr>
              <a:t>Centralized, </a:t>
            </a:r>
            <a:r>
              <a:rPr sz="1600" spc="-7" dirty="0">
                <a:latin typeface="Calibri Light"/>
                <a:cs typeface="Calibri Light"/>
              </a:rPr>
              <a:t>scale-out </a:t>
            </a:r>
            <a:r>
              <a:rPr sz="1600" spc="-20" dirty="0">
                <a:latin typeface="Calibri Light"/>
                <a:cs typeface="Calibri Light"/>
              </a:rPr>
              <a:t>storage  </a:t>
            </a:r>
            <a:r>
              <a:rPr sz="1600" spc="-7" dirty="0">
                <a:latin typeface="Calibri Light"/>
                <a:cs typeface="Calibri Light"/>
              </a:rPr>
              <a:t>Multiple, independent </a:t>
            </a:r>
            <a:r>
              <a:rPr sz="1600" spc="-13" dirty="0">
                <a:latin typeface="Calibri Light"/>
                <a:cs typeface="Calibri Light"/>
              </a:rPr>
              <a:t>compute</a:t>
            </a:r>
            <a:r>
              <a:rPr sz="1600" spc="7" dirty="0">
                <a:latin typeface="Calibri Light"/>
                <a:cs typeface="Calibri Light"/>
              </a:rPr>
              <a:t> </a:t>
            </a:r>
            <a:r>
              <a:rPr sz="1600" spc="-13" dirty="0">
                <a:latin typeface="Calibri Light"/>
                <a:cs typeface="Calibri Light"/>
              </a:rPr>
              <a:t>clusters</a:t>
            </a:r>
            <a:endParaRPr sz="16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97666" y="2866308"/>
            <a:ext cx="259080" cy="259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9892739" y="3065444"/>
            <a:ext cx="441960" cy="452120"/>
          </a:xfrm>
          <a:custGeom>
            <a:avLst/>
            <a:gdLst/>
            <a:ahLst/>
            <a:cxnLst/>
            <a:rect l="l" t="t" r="r" b="b"/>
            <a:pathLst>
              <a:path w="331470" h="339089">
                <a:moveTo>
                  <a:pt x="256539" y="272161"/>
                </a:moveTo>
                <a:lnTo>
                  <a:pt x="74929" y="272161"/>
                </a:lnTo>
                <a:lnTo>
                  <a:pt x="85635" y="280902"/>
                </a:lnTo>
                <a:lnTo>
                  <a:pt x="96377" y="288940"/>
                </a:lnTo>
                <a:lnTo>
                  <a:pt x="108237" y="295860"/>
                </a:lnTo>
                <a:lnTo>
                  <a:pt x="122300" y="301244"/>
                </a:lnTo>
                <a:lnTo>
                  <a:pt x="122300" y="339090"/>
                </a:lnTo>
                <a:lnTo>
                  <a:pt x="206120" y="339090"/>
                </a:lnTo>
                <a:lnTo>
                  <a:pt x="206120" y="301244"/>
                </a:lnTo>
                <a:lnTo>
                  <a:pt x="220696" y="295860"/>
                </a:lnTo>
                <a:lnTo>
                  <a:pt x="233568" y="288940"/>
                </a:lnTo>
                <a:lnTo>
                  <a:pt x="245322" y="280902"/>
                </a:lnTo>
                <a:lnTo>
                  <a:pt x="256539" y="272161"/>
                </a:lnTo>
                <a:close/>
              </a:path>
              <a:path w="331470" h="339089">
                <a:moveTo>
                  <a:pt x="43687" y="48387"/>
                </a:moveTo>
                <a:lnTo>
                  <a:pt x="2158" y="120523"/>
                </a:lnTo>
                <a:lnTo>
                  <a:pt x="35559" y="139826"/>
                </a:lnTo>
                <a:lnTo>
                  <a:pt x="35222" y="147280"/>
                </a:lnTo>
                <a:lnTo>
                  <a:pt x="33738" y="161329"/>
                </a:lnTo>
                <a:lnTo>
                  <a:pt x="33400" y="168783"/>
                </a:lnTo>
                <a:lnTo>
                  <a:pt x="33400" y="198500"/>
                </a:lnTo>
                <a:lnTo>
                  <a:pt x="0" y="217170"/>
                </a:lnTo>
                <a:lnTo>
                  <a:pt x="41528" y="290830"/>
                </a:lnTo>
                <a:lnTo>
                  <a:pt x="74929" y="272161"/>
                </a:lnTo>
                <a:lnTo>
                  <a:pt x="300466" y="272161"/>
                </a:lnTo>
                <a:lnTo>
                  <a:pt x="331469" y="217170"/>
                </a:lnTo>
                <a:lnTo>
                  <a:pt x="298068" y="198500"/>
                </a:lnTo>
                <a:lnTo>
                  <a:pt x="299390" y="190928"/>
                </a:lnTo>
                <a:lnTo>
                  <a:pt x="300069" y="183642"/>
                </a:lnTo>
                <a:lnTo>
                  <a:pt x="300319" y="176355"/>
                </a:lnTo>
                <a:lnTo>
                  <a:pt x="300319" y="161008"/>
                </a:lnTo>
                <a:lnTo>
                  <a:pt x="300069" y="153447"/>
                </a:lnTo>
                <a:lnTo>
                  <a:pt x="299390" y="146315"/>
                </a:lnTo>
                <a:lnTo>
                  <a:pt x="298068" y="139826"/>
                </a:lnTo>
                <a:lnTo>
                  <a:pt x="331469" y="120523"/>
                </a:lnTo>
                <a:lnTo>
                  <a:pt x="300615" y="66929"/>
                </a:lnTo>
                <a:lnTo>
                  <a:pt x="74929" y="66929"/>
                </a:lnTo>
                <a:lnTo>
                  <a:pt x="43687" y="48387"/>
                </a:lnTo>
                <a:close/>
              </a:path>
              <a:path w="331470" h="339089">
                <a:moveTo>
                  <a:pt x="300466" y="272161"/>
                </a:moveTo>
                <a:lnTo>
                  <a:pt x="256539" y="272161"/>
                </a:lnTo>
                <a:lnTo>
                  <a:pt x="289940" y="290830"/>
                </a:lnTo>
                <a:lnTo>
                  <a:pt x="300466" y="272161"/>
                </a:lnTo>
                <a:close/>
              </a:path>
              <a:path w="331470" h="339089">
                <a:moveTo>
                  <a:pt x="206120" y="0"/>
                </a:moveTo>
                <a:lnTo>
                  <a:pt x="122300" y="0"/>
                </a:lnTo>
                <a:lnTo>
                  <a:pt x="122300" y="37211"/>
                </a:lnTo>
                <a:lnTo>
                  <a:pt x="108237" y="42854"/>
                </a:lnTo>
                <a:lnTo>
                  <a:pt x="96377" y="49784"/>
                </a:lnTo>
                <a:lnTo>
                  <a:pt x="85635" y="57856"/>
                </a:lnTo>
                <a:lnTo>
                  <a:pt x="74929" y="66929"/>
                </a:lnTo>
                <a:lnTo>
                  <a:pt x="256539" y="66929"/>
                </a:lnTo>
                <a:lnTo>
                  <a:pt x="245322" y="57856"/>
                </a:lnTo>
                <a:lnTo>
                  <a:pt x="233568" y="49784"/>
                </a:lnTo>
                <a:lnTo>
                  <a:pt x="220696" y="42854"/>
                </a:lnTo>
                <a:lnTo>
                  <a:pt x="206120" y="37211"/>
                </a:lnTo>
                <a:lnTo>
                  <a:pt x="206120" y="0"/>
                </a:lnTo>
                <a:close/>
              </a:path>
              <a:path w="331470" h="339089">
                <a:moveTo>
                  <a:pt x="289940" y="48387"/>
                </a:moveTo>
                <a:lnTo>
                  <a:pt x="256539" y="66929"/>
                </a:lnTo>
                <a:lnTo>
                  <a:pt x="300615" y="66929"/>
                </a:lnTo>
                <a:lnTo>
                  <a:pt x="289940" y="48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9892739" y="3065444"/>
            <a:ext cx="441960" cy="452120"/>
          </a:xfrm>
          <a:custGeom>
            <a:avLst/>
            <a:gdLst/>
            <a:ahLst/>
            <a:cxnLst/>
            <a:rect l="l" t="t" r="r" b="b"/>
            <a:pathLst>
              <a:path w="331470" h="339089">
                <a:moveTo>
                  <a:pt x="33400" y="168783"/>
                </a:moveTo>
                <a:lnTo>
                  <a:pt x="33738" y="161329"/>
                </a:lnTo>
                <a:lnTo>
                  <a:pt x="34480" y="154304"/>
                </a:lnTo>
                <a:lnTo>
                  <a:pt x="35222" y="147280"/>
                </a:lnTo>
                <a:lnTo>
                  <a:pt x="35559" y="139826"/>
                </a:lnTo>
                <a:lnTo>
                  <a:pt x="2158" y="120523"/>
                </a:lnTo>
                <a:lnTo>
                  <a:pt x="43687" y="48387"/>
                </a:lnTo>
                <a:lnTo>
                  <a:pt x="74929" y="66929"/>
                </a:lnTo>
                <a:lnTo>
                  <a:pt x="85635" y="57856"/>
                </a:lnTo>
                <a:lnTo>
                  <a:pt x="96377" y="49784"/>
                </a:lnTo>
                <a:lnTo>
                  <a:pt x="108237" y="42854"/>
                </a:lnTo>
                <a:lnTo>
                  <a:pt x="122300" y="37211"/>
                </a:lnTo>
                <a:lnTo>
                  <a:pt x="122300" y="0"/>
                </a:lnTo>
                <a:lnTo>
                  <a:pt x="206120" y="0"/>
                </a:lnTo>
                <a:lnTo>
                  <a:pt x="206120" y="37211"/>
                </a:lnTo>
                <a:lnTo>
                  <a:pt x="220696" y="42854"/>
                </a:lnTo>
                <a:lnTo>
                  <a:pt x="233568" y="49784"/>
                </a:lnTo>
                <a:lnTo>
                  <a:pt x="245322" y="57856"/>
                </a:lnTo>
                <a:lnTo>
                  <a:pt x="256539" y="66929"/>
                </a:lnTo>
                <a:lnTo>
                  <a:pt x="289940" y="48387"/>
                </a:lnTo>
                <a:lnTo>
                  <a:pt x="331469" y="120523"/>
                </a:lnTo>
                <a:lnTo>
                  <a:pt x="298068" y="139826"/>
                </a:lnTo>
                <a:lnTo>
                  <a:pt x="299390" y="146315"/>
                </a:lnTo>
                <a:lnTo>
                  <a:pt x="300069" y="153447"/>
                </a:lnTo>
                <a:lnTo>
                  <a:pt x="300319" y="161008"/>
                </a:lnTo>
                <a:lnTo>
                  <a:pt x="300354" y="168783"/>
                </a:lnTo>
                <a:lnTo>
                  <a:pt x="300319" y="176355"/>
                </a:lnTo>
                <a:lnTo>
                  <a:pt x="300069" y="183642"/>
                </a:lnTo>
                <a:lnTo>
                  <a:pt x="299390" y="190928"/>
                </a:lnTo>
                <a:lnTo>
                  <a:pt x="298068" y="198500"/>
                </a:lnTo>
                <a:lnTo>
                  <a:pt x="331469" y="217170"/>
                </a:lnTo>
                <a:lnTo>
                  <a:pt x="289940" y="290830"/>
                </a:lnTo>
                <a:lnTo>
                  <a:pt x="256539" y="272161"/>
                </a:lnTo>
                <a:lnTo>
                  <a:pt x="245322" y="280902"/>
                </a:lnTo>
                <a:lnTo>
                  <a:pt x="233568" y="288940"/>
                </a:lnTo>
                <a:lnTo>
                  <a:pt x="220696" y="295860"/>
                </a:lnTo>
                <a:lnTo>
                  <a:pt x="206120" y="301244"/>
                </a:lnTo>
                <a:lnTo>
                  <a:pt x="206120" y="339090"/>
                </a:lnTo>
                <a:lnTo>
                  <a:pt x="122300" y="339090"/>
                </a:lnTo>
                <a:lnTo>
                  <a:pt x="122300" y="301244"/>
                </a:lnTo>
                <a:lnTo>
                  <a:pt x="108237" y="295860"/>
                </a:lnTo>
                <a:lnTo>
                  <a:pt x="96377" y="288940"/>
                </a:lnTo>
                <a:lnTo>
                  <a:pt x="85635" y="280902"/>
                </a:lnTo>
                <a:lnTo>
                  <a:pt x="74929" y="272161"/>
                </a:lnTo>
                <a:lnTo>
                  <a:pt x="41528" y="290830"/>
                </a:lnTo>
                <a:lnTo>
                  <a:pt x="0" y="217170"/>
                </a:lnTo>
                <a:lnTo>
                  <a:pt x="33400" y="198500"/>
                </a:lnTo>
                <a:lnTo>
                  <a:pt x="33400" y="190928"/>
                </a:lnTo>
                <a:lnTo>
                  <a:pt x="33400" y="183641"/>
                </a:lnTo>
                <a:lnTo>
                  <a:pt x="33400" y="176355"/>
                </a:lnTo>
                <a:lnTo>
                  <a:pt x="33400" y="168783"/>
                </a:lnTo>
              </a:path>
            </a:pathLst>
          </a:custGeom>
          <a:ln w="12192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0022786" y="3197526"/>
            <a:ext cx="185928" cy="183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9774882" y="2949621"/>
            <a:ext cx="98552" cy="98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9574730" y="3341798"/>
            <a:ext cx="261620" cy="232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7619947" y="2811444"/>
            <a:ext cx="2332736" cy="1942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067762" y="2995341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0" y="17525"/>
                </a:moveTo>
                <a:lnTo>
                  <a:pt x="0" y="7874"/>
                </a:lnTo>
                <a:lnTo>
                  <a:pt x="7848" y="0"/>
                </a:lnTo>
                <a:lnTo>
                  <a:pt x="17525" y="0"/>
                </a:lnTo>
                <a:lnTo>
                  <a:pt x="27203" y="0"/>
                </a:lnTo>
                <a:lnTo>
                  <a:pt x="35052" y="7874"/>
                </a:lnTo>
                <a:lnTo>
                  <a:pt x="35052" y="17525"/>
                </a:lnTo>
                <a:lnTo>
                  <a:pt x="35052" y="27177"/>
                </a:lnTo>
                <a:lnTo>
                  <a:pt x="27203" y="35051"/>
                </a:lnTo>
                <a:lnTo>
                  <a:pt x="17525" y="35051"/>
                </a:lnTo>
                <a:lnTo>
                  <a:pt x="7848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1067762" y="3133517"/>
            <a:ext cx="47413" cy="49107"/>
          </a:xfrm>
          <a:custGeom>
            <a:avLst/>
            <a:gdLst/>
            <a:ahLst/>
            <a:cxnLst/>
            <a:rect l="l" t="t" r="r" b="b"/>
            <a:pathLst>
              <a:path w="35559" h="36830">
                <a:moveTo>
                  <a:pt x="0" y="18287"/>
                </a:moveTo>
                <a:lnTo>
                  <a:pt x="0" y="8127"/>
                </a:lnTo>
                <a:lnTo>
                  <a:pt x="7848" y="0"/>
                </a:lnTo>
                <a:lnTo>
                  <a:pt x="17525" y="0"/>
                </a:lnTo>
                <a:lnTo>
                  <a:pt x="27203" y="0"/>
                </a:lnTo>
                <a:lnTo>
                  <a:pt x="35052" y="8127"/>
                </a:lnTo>
                <a:lnTo>
                  <a:pt x="35052" y="18287"/>
                </a:lnTo>
                <a:lnTo>
                  <a:pt x="35052" y="28447"/>
                </a:lnTo>
                <a:lnTo>
                  <a:pt x="27203" y="36575"/>
                </a:lnTo>
                <a:lnTo>
                  <a:pt x="17525" y="36575"/>
                </a:lnTo>
                <a:lnTo>
                  <a:pt x="7848" y="36575"/>
                </a:lnTo>
                <a:lnTo>
                  <a:pt x="0" y="28447"/>
                </a:lnTo>
                <a:lnTo>
                  <a:pt x="0" y="1828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81682" y="3157901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44146"/>
              </p:ext>
            </p:extLst>
          </p:nvPr>
        </p:nvGraphicFramePr>
        <p:xfrm>
          <a:off x="598524" y="2931334"/>
          <a:ext cx="552873" cy="418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1067762" y="3273725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0" y="17525"/>
                </a:moveTo>
                <a:lnTo>
                  <a:pt x="0" y="7874"/>
                </a:lnTo>
                <a:lnTo>
                  <a:pt x="7848" y="0"/>
                </a:lnTo>
                <a:lnTo>
                  <a:pt x="17525" y="0"/>
                </a:lnTo>
                <a:lnTo>
                  <a:pt x="27203" y="0"/>
                </a:lnTo>
                <a:lnTo>
                  <a:pt x="35052" y="7874"/>
                </a:lnTo>
                <a:lnTo>
                  <a:pt x="35052" y="17525"/>
                </a:lnTo>
                <a:lnTo>
                  <a:pt x="35052" y="27177"/>
                </a:lnTo>
                <a:lnTo>
                  <a:pt x="27203" y="35051"/>
                </a:lnTo>
                <a:lnTo>
                  <a:pt x="17525" y="35051"/>
                </a:lnTo>
                <a:lnTo>
                  <a:pt x="7848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81682" y="3296076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681682" y="3019725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445714" y="3771564"/>
            <a:ext cx="439420" cy="392853"/>
          </a:xfrm>
          <a:custGeom>
            <a:avLst/>
            <a:gdLst/>
            <a:ahLst/>
            <a:cxnLst/>
            <a:rect l="l" t="t" r="r" b="b"/>
            <a:pathLst>
              <a:path w="329565" h="294639">
                <a:moveTo>
                  <a:pt x="0" y="0"/>
                </a:moveTo>
                <a:lnTo>
                  <a:pt x="0" y="130030"/>
                </a:lnTo>
                <a:lnTo>
                  <a:pt x="0" y="196802"/>
                </a:lnTo>
                <a:lnTo>
                  <a:pt x="0" y="221402"/>
                </a:lnTo>
                <a:lnTo>
                  <a:pt x="0" y="224917"/>
                </a:lnTo>
                <a:lnTo>
                  <a:pt x="12926" y="252180"/>
                </a:lnTo>
                <a:lnTo>
                  <a:pt x="48186" y="274145"/>
                </a:lnTo>
                <a:lnTo>
                  <a:pt x="100501" y="288799"/>
                </a:lnTo>
                <a:lnTo>
                  <a:pt x="164592" y="294131"/>
                </a:lnTo>
                <a:lnTo>
                  <a:pt x="228671" y="288799"/>
                </a:lnTo>
                <a:lnTo>
                  <a:pt x="280987" y="274145"/>
                </a:lnTo>
                <a:lnTo>
                  <a:pt x="316253" y="252180"/>
                </a:lnTo>
                <a:lnTo>
                  <a:pt x="329184" y="224917"/>
                </a:lnTo>
                <a:lnTo>
                  <a:pt x="329184" y="94886"/>
                </a:lnTo>
                <a:lnTo>
                  <a:pt x="329184" y="28114"/>
                </a:lnTo>
                <a:lnTo>
                  <a:pt x="329184" y="3514"/>
                </a:lnTo>
                <a:lnTo>
                  <a:pt x="329184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445714" y="3863005"/>
            <a:ext cx="439420" cy="91440"/>
          </a:xfrm>
          <a:custGeom>
            <a:avLst/>
            <a:gdLst/>
            <a:ahLst/>
            <a:cxnLst/>
            <a:rect l="l" t="t" r="r" b="b"/>
            <a:pathLst>
              <a:path w="329565" h="68580">
                <a:moveTo>
                  <a:pt x="329184" y="0"/>
                </a:moveTo>
                <a:lnTo>
                  <a:pt x="316253" y="27003"/>
                </a:lnTo>
                <a:lnTo>
                  <a:pt x="280987" y="48768"/>
                </a:lnTo>
                <a:lnTo>
                  <a:pt x="228671" y="63293"/>
                </a:lnTo>
                <a:lnTo>
                  <a:pt x="164592" y="68579"/>
                </a:lnTo>
                <a:lnTo>
                  <a:pt x="100501" y="63293"/>
                </a:lnTo>
                <a:lnTo>
                  <a:pt x="48186" y="48768"/>
                </a:lnTo>
                <a:lnTo>
                  <a:pt x="12926" y="27003"/>
                </a:ln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445714" y="3966638"/>
            <a:ext cx="439420" cy="93980"/>
          </a:xfrm>
          <a:custGeom>
            <a:avLst/>
            <a:gdLst/>
            <a:ahLst/>
            <a:cxnLst/>
            <a:rect l="l" t="t" r="r" b="b"/>
            <a:pathLst>
              <a:path w="329565" h="70485">
                <a:moveTo>
                  <a:pt x="329184" y="0"/>
                </a:moveTo>
                <a:lnTo>
                  <a:pt x="316253" y="27562"/>
                </a:lnTo>
                <a:lnTo>
                  <a:pt x="280987" y="49815"/>
                </a:lnTo>
                <a:lnTo>
                  <a:pt x="228671" y="64686"/>
                </a:lnTo>
                <a:lnTo>
                  <a:pt x="164592" y="70103"/>
                </a:lnTo>
                <a:lnTo>
                  <a:pt x="100501" y="64686"/>
                </a:lnTo>
                <a:lnTo>
                  <a:pt x="48186" y="49815"/>
                </a:lnTo>
                <a:lnTo>
                  <a:pt x="12926" y="27562"/>
                </a:ln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1445714" y="3678094"/>
            <a:ext cx="439420" cy="185420"/>
          </a:xfrm>
          <a:custGeom>
            <a:avLst/>
            <a:gdLst/>
            <a:ahLst/>
            <a:cxnLst/>
            <a:rect l="l" t="t" r="r" b="b"/>
            <a:pathLst>
              <a:path w="329565" h="139064">
                <a:moveTo>
                  <a:pt x="164592" y="0"/>
                </a:moveTo>
                <a:lnTo>
                  <a:pt x="100523" y="5441"/>
                </a:lnTo>
                <a:lnTo>
                  <a:pt x="48206" y="20288"/>
                </a:lnTo>
                <a:lnTo>
                  <a:pt x="12933" y="42326"/>
                </a:lnTo>
                <a:lnTo>
                  <a:pt x="0" y="69342"/>
                </a:lnTo>
                <a:lnTo>
                  <a:pt x="12933" y="96357"/>
                </a:lnTo>
                <a:lnTo>
                  <a:pt x="48206" y="118395"/>
                </a:lnTo>
                <a:lnTo>
                  <a:pt x="100523" y="133242"/>
                </a:lnTo>
                <a:lnTo>
                  <a:pt x="164592" y="138684"/>
                </a:lnTo>
                <a:lnTo>
                  <a:pt x="228671" y="133242"/>
                </a:lnTo>
                <a:lnTo>
                  <a:pt x="280987" y="118395"/>
                </a:lnTo>
                <a:lnTo>
                  <a:pt x="316253" y="96357"/>
                </a:lnTo>
                <a:lnTo>
                  <a:pt x="329184" y="69342"/>
                </a:lnTo>
                <a:lnTo>
                  <a:pt x="316253" y="42326"/>
                </a:lnTo>
                <a:lnTo>
                  <a:pt x="280987" y="20288"/>
                </a:lnTo>
                <a:lnTo>
                  <a:pt x="228671" y="5441"/>
                </a:lnTo>
                <a:lnTo>
                  <a:pt x="1645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1445714" y="3678094"/>
            <a:ext cx="439420" cy="185420"/>
          </a:xfrm>
          <a:custGeom>
            <a:avLst/>
            <a:gdLst/>
            <a:ahLst/>
            <a:cxnLst/>
            <a:rect l="l" t="t" r="r" b="b"/>
            <a:pathLst>
              <a:path w="329565" h="139064">
                <a:moveTo>
                  <a:pt x="0" y="69342"/>
                </a:moveTo>
                <a:lnTo>
                  <a:pt x="12933" y="42326"/>
                </a:lnTo>
                <a:lnTo>
                  <a:pt x="48206" y="20288"/>
                </a:lnTo>
                <a:lnTo>
                  <a:pt x="100523" y="5441"/>
                </a:lnTo>
                <a:lnTo>
                  <a:pt x="164592" y="0"/>
                </a:lnTo>
                <a:lnTo>
                  <a:pt x="228671" y="5441"/>
                </a:lnTo>
                <a:lnTo>
                  <a:pt x="280987" y="20288"/>
                </a:lnTo>
                <a:lnTo>
                  <a:pt x="316253" y="42326"/>
                </a:lnTo>
                <a:lnTo>
                  <a:pt x="329184" y="69342"/>
                </a:lnTo>
                <a:lnTo>
                  <a:pt x="316253" y="96357"/>
                </a:lnTo>
                <a:lnTo>
                  <a:pt x="280987" y="118395"/>
                </a:lnTo>
                <a:lnTo>
                  <a:pt x="228671" y="133242"/>
                </a:lnTo>
                <a:lnTo>
                  <a:pt x="164592" y="138684"/>
                </a:lnTo>
                <a:lnTo>
                  <a:pt x="100523" y="133242"/>
                </a:lnTo>
                <a:lnTo>
                  <a:pt x="48206" y="118395"/>
                </a:lnTo>
                <a:lnTo>
                  <a:pt x="12933" y="96357"/>
                </a:lnTo>
                <a:lnTo>
                  <a:pt x="0" y="69342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1837891" y="2995341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0" y="17525"/>
                </a:moveTo>
                <a:lnTo>
                  <a:pt x="0" y="7874"/>
                </a:lnTo>
                <a:lnTo>
                  <a:pt x="7873" y="0"/>
                </a:lnTo>
                <a:lnTo>
                  <a:pt x="17525" y="0"/>
                </a:lnTo>
                <a:lnTo>
                  <a:pt x="27178" y="0"/>
                </a:lnTo>
                <a:lnTo>
                  <a:pt x="35051" y="7874"/>
                </a:lnTo>
                <a:lnTo>
                  <a:pt x="35051" y="17525"/>
                </a:lnTo>
                <a:lnTo>
                  <a:pt x="35051" y="27177"/>
                </a:lnTo>
                <a:lnTo>
                  <a:pt x="27178" y="35051"/>
                </a:lnTo>
                <a:lnTo>
                  <a:pt x="17525" y="35051"/>
                </a:lnTo>
                <a:lnTo>
                  <a:pt x="7873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837891" y="3133517"/>
            <a:ext cx="47413" cy="49107"/>
          </a:xfrm>
          <a:custGeom>
            <a:avLst/>
            <a:gdLst/>
            <a:ahLst/>
            <a:cxnLst/>
            <a:rect l="l" t="t" r="r" b="b"/>
            <a:pathLst>
              <a:path w="35559" h="36830">
                <a:moveTo>
                  <a:pt x="0" y="18287"/>
                </a:moveTo>
                <a:lnTo>
                  <a:pt x="0" y="8127"/>
                </a:lnTo>
                <a:lnTo>
                  <a:pt x="7873" y="0"/>
                </a:lnTo>
                <a:lnTo>
                  <a:pt x="17525" y="0"/>
                </a:lnTo>
                <a:lnTo>
                  <a:pt x="27178" y="0"/>
                </a:lnTo>
                <a:lnTo>
                  <a:pt x="35051" y="8127"/>
                </a:lnTo>
                <a:lnTo>
                  <a:pt x="35051" y="18287"/>
                </a:lnTo>
                <a:lnTo>
                  <a:pt x="35051" y="28447"/>
                </a:lnTo>
                <a:lnTo>
                  <a:pt x="27178" y="36575"/>
                </a:lnTo>
                <a:lnTo>
                  <a:pt x="17525" y="36575"/>
                </a:lnTo>
                <a:lnTo>
                  <a:pt x="7873" y="36575"/>
                </a:lnTo>
                <a:lnTo>
                  <a:pt x="0" y="28447"/>
                </a:lnTo>
                <a:lnTo>
                  <a:pt x="0" y="1828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451810" y="3157901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13301"/>
              </p:ext>
            </p:extLst>
          </p:nvPr>
        </p:nvGraphicFramePr>
        <p:xfrm>
          <a:off x="1368652" y="2931334"/>
          <a:ext cx="552873" cy="418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1837891" y="3273725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0" y="17525"/>
                </a:moveTo>
                <a:lnTo>
                  <a:pt x="0" y="7874"/>
                </a:lnTo>
                <a:lnTo>
                  <a:pt x="7873" y="0"/>
                </a:lnTo>
                <a:lnTo>
                  <a:pt x="17525" y="0"/>
                </a:lnTo>
                <a:lnTo>
                  <a:pt x="27178" y="0"/>
                </a:lnTo>
                <a:lnTo>
                  <a:pt x="35051" y="7874"/>
                </a:lnTo>
                <a:lnTo>
                  <a:pt x="35051" y="17525"/>
                </a:lnTo>
                <a:lnTo>
                  <a:pt x="35051" y="27177"/>
                </a:lnTo>
                <a:lnTo>
                  <a:pt x="27178" y="35051"/>
                </a:lnTo>
                <a:lnTo>
                  <a:pt x="17525" y="35051"/>
                </a:lnTo>
                <a:lnTo>
                  <a:pt x="7873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451810" y="3296076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451810" y="3019725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2608019" y="2995341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17525"/>
                </a:moveTo>
                <a:lnTo>
                  <a:pt x="0" y="7874"/>
                </a:lnTo>
                <a:lnTo>
                  <a:pt x="7874" y="0"/>
                </a:lnTo>
                <a:lnTo>
                  <a:pt x="17525" y="0"/>
                </a:lnTo>
                <a:lnTo>
                  <a:pt x="27177" y="0"/>
                </a:lnTo>
                <a:lnTo>
                  <a:pt x="35051" y="7874"/>
                </a:lnTo>
                <a:lnTo>
                  <a:pt x="35051" y="17525"/>
                </a:lnTo>
                <a:lnTo>
                  <a:pt x="35051" y="27177"/>
                </a:lnTo>
                <a:lnTo>
                  <a:pt x="27177" y="35051"/>
                </a:lnTo>
                <a:lnTo>
                  <a:pt x="17525" y="35051"/>
                </a:lnTo>
                <a:lnTo>
                  <a:pt x="7874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608019" y="3133517"/>
            <a:ext cx="47413" cy="49107"/>
          </a:xfrm>
          <a:custGeom>
            <a:avLst/>
            <a:gdLst/>
            <a:ahLst/>
            <a:cxnLst/>
            <a:rect l="l" t="t" r="r" b="b"/>
            <a:pathLst>
              <a:path w="35560" h="36830">
                <a:moveTo>
                  <a:pt x="0" y="18287"/>
                </a:moveTo>
                <a:lnTo>
                  <a:pt x="0" y="8127"/>
                </a:lnTo>
                <a:lnTo>
                  <a:pt x="7874" y="0"/>
                </a:lnTo>
                <a:lnTo>
                  <a:pt x="17525" y="0"/>
                </a:lnTo>
                <a:lnTo>
                  <a:pt x="27177" y="0"/>
                </a:lnTo>
                <a:lnTo>
                  <a:pt x="35051" y="8127"/>
                </a:lnTo>
                <a:lnTo>
                  <a:pt x="35051" y="18287"/>
                </a:lnTo>
                <a:lnTo>
                  <a:pt x="35051" y="28447"/>
                </a:lnTo>
                <a:lnTo>
                  <a:pt x="27177" y="36575"/>
                </a:lnTo>
                <a:lnTo>
                  <a:pt x="17525" y="36575"/>
                </a:lnTo>
                <a:lnTo>
                  <a:pt x="7874" y="36575"/>
                </a:lnTo>
                <a:lnTo>
                  <a:pt x="0" y="28447"/>
                </a:lnTo>
                <a:lnTo>
                  <a:pt x="0" y="1828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221940" y="3157901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6" name="objec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990530"/>
              </p:ext>
            </p:extLst>
          </p:nvPr>
        </p:nvGraphicFramePr>
        <p:xfrm>
          <a:off x="2138796" y="2931334"/>
          <a:ext cx="552873" cy="418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75757"/>
                      </a:solidFill>
                      <a:prstDash val="solid"/>
                    </a:lnL>
                    <a:lnR w="38100">
                      <a:solidFill>
                        <a:srgbClr val="575757"/>
                      </a:solidFill>
                      <a:prstDash val="solid"/>
                    </a:lnR>
                    <a:lnT w="28575">
                      <a:solidFill>
                        <a:srgbClr val="575757"/>
                      </a:solidFill>
                      <a:prstDash val="solid"/>
                    </a:lnT>
                    <a:lnB w="28575">
                      <a:solidFill>
                        <a:srgbClr val="575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object 37"/>
          <p:cNvSpPr/>
          <p:nvPr/>
        </p:nvSpPr>
        <p:spPr>
          <a:xfrm>
            <a:off x="2608019" y="3273725"/>
            <a:ext cx="47413" cy="47413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17525"/>
                </a:moveTo>
                <a:lnTo>
                  <a:pt x="0" y="7874"/>
                </a:lnTo>
                <a:lnTo>
                  <a:pt x="7874" y="0"/>
                </a:lnTo>
                <a:lnTo>
                  <a:pt x="17525" y="0"/>
                </a:lnTo>
                <a:lnTo>
                  <a:pt x="27177" y="0"/>
                </a:lnTo>
                <a:lnTo>
                  <a:pt x="35051" y="7874"/>
                </a:lnTo>
                <a:lnTo>
                  <a:pt x="35051" y="17525"/>
                </a:lnTo>
                <a:lnTo>
                  <a:pt x="35051" y="27177"/>
                </a:lnTo>
                <a:lnTo>
                  <a:pt x="27177" y="35051"/>
                </a:lnTo>
                <a:lnTo>
                  <a:pt x="17525" y="35051"/>
                </a:lnTo>
                <a:lnTo>
                  <a:pt x="7874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2221940" y="3296076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2221940" y="3019725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613355" y="3366180"/>
            <a:ext cx="101600" cy="2429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843227" y="3366180"/>
            <a:ext cx="872067" cy="310727"/>
          </a:xfrm>
          <a:custGeom>
            <a:avLst/>
            <a:gdLst/>
            <a:ahLst/>
            <a:cxnLst/>
            <a:rect l="l" t="t" r="r" b="b"/>
            <a:pathLst>
              <a:path w="654050" h="233044">
                <a:moveTo>
                  <a:pt x="609346" y="156844"/>
                </a:moveTo>
                <a:lnTo>
                  <a:pt x="577596" y="156844"/>
                </a:lnTo>
                <a:lnTo>
                  <a:pt x="615696" y="233044"/>
                </a:lnTo>
                <a:lnTo>
                  <a:pt x="647446" y="169544"/>
                </a:lnTo>
                <a:lnTo>
                  <a:pt x="609346" y="169544"/>
                </a:lnTo>
                <a:lnTo>
                  <a:pt x="609346" y="156844"/>
                </a:lnTo>
                <a:close/>
              </a:path>
              <a:path w="654050" h="233044">
                <a:moveTo>
                  <a:pt x="609346" y="116586"/>
                </a:moveTo>
                <a:lnTo>
                  <a:pt x="609346" y="169544"/>
                </a:lnTo>
                <a:lnTo>
                  <a:pt x="622046" y="169544"/>
                </a:lnTo>
                <a:lnTo>
                  <a:pt x="622046" y="122936"/>
                </a:lnTo>
                <a:lnTo>
                  <a:pt x="615696" y="122936"/>
                </a:lnTo>
                <a:lnTo>
                  <a:pt x="609346" y="116586"/>
                </a:lnTo>
                <a:close/>
              </a:path>
              <a:path w="654050" h="233044">
                <a:moveTo>
                  <a:pt x="653796" y="156844"/>
                </a:moveTo>
                <a:lnTo>
                  <a:pt x="622046" y="156844"/>
                </a:lnTo>
                <a:lnTo>
                  <a:pt x="622046" y="169544"/>
                </a:lnTo>
                <a:lnTo>
                  <a:pt x="647446" y="169544"/>
                </a:lnTo>
                <a:lnTo>
                  <a:pt x="653796" y="156844"/>
                </a:lnTo>
                <a:close/>
              </a:path>
              <a:path w="654050" h="233044">
                <a:moveTo>
                  <a:pt x="44450" y="63500"/>
                </a:moveTo>
                <a:lnTo>
                  <a:pt x="31750" y="63500"/>
                </a:lnTo>
                <a:lnTo>
                  <a:pt x="31750" y="122936"/>
                </a:lnTo>
                <a:lnTo>
                  <a:pt x="609346" y="122936"/>
                </a:lnTo>
                <a:lnTo>
                  <a:pt x="609346" y="116586"/>
                </a:lnTo>
                <a:lnTo>
                  <a:pt x="44450" y="116586"/>
                </a:lnTo>
                <a:lnTo>
                  <a:pt x="38100" y="110236"/>
                </a:lnTo>
                <a:lnTo>
                  <a:pt x="44450" y="110236"/>
                </a:lnTo>
                <a:lnTo>
                  <a:pt x="44450" y="63500"/>
                </a:lnTo>
                <a:close/>
              </a:path>
              <a:path w="654050" h="233044">
                <a:moveTo>
                  <a:pt x="622046" y="110236"/>
                </a:moveTo>
                <a:lnTo>
                  <a:pt x="44450" y="110236"/>
                </a:lnTo>
                <a:lnTo>
                  <a:pt x="44450" y="116586"/>
                </a:lnTo>
                <a:lnTo>
                  <a:pt x="609346" y="116586"/>
                </a:lnTo>
                <a:lnTo>
                  <a:pt x="615696" y="122936"/>
                </a:lnTo>
                <a:lnTo>
                  <a:pt x="622046" y="122936"/>
                </a:lnTo>
                <a:lnTo>
                  <a:pt x="622046" y="110236"/>
                </a:lnTo>
                <a:close/>
              </a:path>
              <a:path w="654050" h="233044">
                <a:moveTo>
                  <a:pt x="44450" y="110236"/>
                </a:moveTo>
                <a:lnTo>
                  <a:pt x="38100" y="110236"/>
                </a:lnTo>
                <a:lnTo>
                  <a:pt x="44450" y="116586"/>
                </a:lnTo>
                <a:lnTo>
                  <a:pt x="44450" y="110236"/>
                </a:lnTo>
                <a:close/>
              </a:path>
              <a:path w="654050" h="2330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654050" h="2330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1613355" y="3366180"/>
            <a:ext cx="872067" cy="310727"/>
          </a:xfrm>
          <a:custGeom>
            <a:avLst/>
            <a:gdLst/>
            <a:ahLst/>
            <a:cxnLst/>
            <a:rect l="l" t="t" r="r" b="b"/>
            <a:pathLst>
              <a:path w="654050" h="233044">
                <a:moveTo>
                  <a:pt x="31750" y="156844"/>
                </a:moveTo>
                <a:lnTo>
                  <a:pt x="0" y="156844"/>
                </a:lnTo>
                <a:lnTo>
                  <a:pt x="38100" y="233044"/>
                </a:lnTo>
                <a:lnTo>
                  <a:pt x="69850" y="169544"/>
                </a:lnTo>
                <a:lnTo>
                  <a:pt x="31750" y="169544"/>
                </a:lnTo>
                <a:lnTo>
                  <a:pt x="31750" y="156844"/>
                </a:lnTo>
                <a:close/>
              </a:path>
              <a:path w="654050" h="233044">
                <a:moveTo>
                  <a:pt x="609345" y="110236"/>
                </a:moveTo>
                <a:lnTo>
                  <a:pt x="31750" y="110236"/>
                </a:lnTo>
                <a:lnTo>
                  <a:pt x="31750" y="169544"/>
                </a:lnTo>
                <a:lnTo>
                  <a:pt x="44450" y="169544"/>
                </a:lnTo>
                <a:lnTo>
                  <a:pt x="44450" y="122936"/>
                </a:lnTo>
                <a:lnTo>
                  <a:pt x="38100" y="122936"/>
                </a:lnTo>
                <a:lnTo>
                  <a:pt x="44450" y="116586"/>
                </a:lnTo>
                <a:lnTo>
                  <a:pt x="609345" y="116586"/>
                </a:lnTo>
                <a:lnTo>
                  <a:pt x="609345" y="110236"/>
                </a:lnTo>
                <a:close/>
              </a:path>
              <a:path w="654050" h="233044">
                <a:moveTo>
                  <a:pt x="76200" y="156844"/>
                </a:moveTo>
                <a:lnTo>
                  <a:pt x="44450" y="156844"/>
                </a:lnTo>
                <a:lnTo>
                  <a:pt x="44450" y="169544"/>
                </a:lnTo>
                <a:lnTo>
                  <a:pt x="69850" y="169544"/>
                </a:lnTo>
                <a:lnTo>
                  <a:pt x="76200" y="156844"/>
                </a:lnTo>
                <a:close/>
              </a:path>
              <a:path w="654050" h="233044">
                <a:moveTo>
                  <a:pt x="44450" y="116586"/>
                </a:moveTo>
                <a:lnTo>
                  <a:pt x="38100" y="122936"/>
                </a:lnTo>
                <a:lnTo>
                  <a:pt x="44450" y="122936"/>
                </a:lnTo>
                <a:lnTo>
                  <a:pt x="44450" y="116586"/>
                </a:lnTo>
                <a:close/>
              </a:path>
              <a:path w="654050" h="233044">
                <a:moveTo>
                  <a:pt x="622045" y="110236"/>
                </a:moveTo>
                <a:lnTo>
                  <a:pt x="615695" y="110236"/>
                </a:lnTo>
                <a:lnTo>
                  <a:pt x="609345" y="116586"/>
                </a:lnTo>
                <a:lnTo>
                  <a:pt x="44450" y="116586"/>
                </a:lnTo>
                <a:lnTo>
                  <a:pt x="44450" y="122936"/>
                </a:lnTo>
                <a:lnTo>
                  <a:pt x="622045" y="122936"/>
                </a:lnTo>
                <a:lnTo>
                  <a:pt x="622045" y="110236"/>
                </a:lnTo>
                <a:close/>
              </a:path>
              <a:path w="654050" h="233044">
                <a:moveTo>
                  <a:pt x="622045" y="63500"/>
                </a:moveTo>
                <a:lnTo>
                  <a:pt x="609345" y="63500"/>
                </a:lnTo>
                <a:lnTo>
                  <a:pt x="609345" y="116586"/>
                </a:lnTo>
                <a:lnTo>
                  <a:pt x="615695" y="110236"/>
                </a:lnTo>
                <a:lnTo>
                  <a:pt x="622045" y="110236"/>
                </a:lnTo>
                <a:lnTo>
                  <a:pt x="622045" y="63500"/>
                </a:lnTo>
                <a:close/>
              </a:path>
              <a:path w="654050" h="233044">
                <a:moveTo>
                  <a:pt x="615695" y="0"/>
                </a:moveTo>
                <a:lnTo>
                  <a:pt x="577595" y="76200"/>
                </a:lnTo>
                <a:lnTo>
                  <a:pt x="609345" y="76200"/>
                </a:lnTo>
                <a:lnTo>
                  <a:pt x="609345" y="63500"/>
                </a:lnTo>
                <a:lnTo>
                  <a:pt x="647445" y="63500"/>
                </a:lnTo>
                <a:lnTo>
                  <a:pt x="615695" y="0"/>
                </a:lnTo>
                <a:close/>
              </a:path>
              <a:path w="654050" h="233044">
                <a:moveTo>
                  <a:pt x="647445" y="63500"/>
                </a:moveTo>
                <a:lnTo>
                  <a:pt x="622045" y="63500"/>
                </a:lnTo>
                <a:lnTo>
                  <a:pt x="622045" y="76200"/>
                </a:lnTo>
                <a:lnTo>
                  <a:pt x="653795" y="76200"/>
                </a:lnTo>
                <a:lnTo>
                  <a:pt x="64744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3339540" y="2995342"/>
            <a:ext cx="552873" cy="138852"/>
          </a:xfrm>
          <a:custGeom>
            <a:avLst/>
            <a:gdLst/>
            <a:ahLst/>
            <a:cxnLst/>
            <a:rect l="l" t="t" r="r" b="b"/>
            <a:pathLst>
              <a:path w="414655" h="104139">
                <a:moveTo>
                  <a:pt x="0" y="9525"/>
                </a:moveTo>
                <a:lnTo>
                  <a:pt x="0" y="4317"/>
                </a:lnTo>
                <a:lnTo>
                  <a:pt x="4318" y="0"/>
                </a:lnTo>
                <a:lnTo>
                  <a:pt x="9525" y="0"/>
                </a:lnTo>
                <a:lnTo>
                  <a:pt x="405003" y="0"/>
                </a:lnTo>
                <a:lnTo>
                  <a:pt x="410210" y="0"/>
                </a:lnTo>
                <a:lnTo>
                  <a:pt x="414528" y="4317"/>
                </a:lnTo>
                <a:lnTo>
                  <a:pt x="414528" y="9525"/>
                </a:lnTo>
                <a:lnTo>
                  <a:pt x="414528" y="94107"/>
                </a:lnTo>
                <a:lnTo>
                  <a:pt x="414528" y="99313"/>
                </a:lnTo>
                <a:lnTo>
                  <a:pt x="410210" y="103632"/>
                </a:lnTo>
                <a:lnTo>
                  <a:pt x="405003" y="103632"/>
                </a:lnTo>
                <a:lnTo>
                  <a:pt x="9525" y="103632"/>
                </a:lnTo>
                <a:lnTo>
                  <a:pt x="4318" y="103632"/>
                </a:lnTo>
                <a:lnTo>
                  <a:pt x="0" y="99313"/>
                </a:lnTo>
                <a:lnTo>
                  <a:pt x="0" y="94107"/>
                </a:lnTo>
                <a:lnTo>
                  <a:pt x="0" y="9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788611" y="3040044"/>
            <a:ext cx="47413" cy="49107"/>
          </a:xfrm>
          <a:custGeom>
            <a:avLst/>
            <a:gdLst/>
            <a:ahLst/>
            <a:cxnLst/>
            <a:rect l="l" t="t" r="r" b="b"/>
            <a:pathLst>
              <a:path w="35560" h="36830">
                <a:moveTo>
                  <a:pt x="0" y="18287"/>
                </a:moveTo>
                <a:lnTo>
                  <a:pt x="0" y="8127"/>
                </a:lnTo>
                <a:lnTo>
                  <a:pt x="7874" y="0"/>
                </a:lnTo>
                <a:lnTo>
                  <a:pt x="17525" y="0"/>
                </a:lnTo>
                <a:lnTo>
                  <a:pt x="27177" y="0"/>
                </a:lnTo>
                <a:lnTo>
                  <a:pt x="35051" y="8127"/>
                </a:lnTo>
                <a:lnTo>
                  <a:pt x="35051" y="18287"/>
                </a:lnTo>
                <a:lnTo>
                  <a:pt x="35051" y="28448"/>
                </a:lnTo>
                <a:lnTo>
                  <a:pt x="27177" y="36575"/>
                </a:lnTo>
                <a:lnTo>
                  <a:pt x="17525" y="36575"/>
                </a:lnTo>
                <a:lnTo>
                  <a:pt x="7874" y="36575"/>
                </a:lnTo>
                <a:lnTo>
                  <a:pt x="0" y="28448"/>
                </a:lnTo>
                <a:lnTo>
                  <a:pt x="0" y="1828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402532" y="3064429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1920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422851" y="3294044"/>
            <a:ext cx="404707" cy="362373"/>
          </a:xfrm>
          <a:custGeom>
            <a:avLst/>
            <a:gdLst/>
            <a:ahLst/>
            <a:cxnLst/>
            <a:rect l="l" t="t" r="r" b="b"/>
            <a:pathLst>
              <a:path w="303530" h="271780">
                <a:moveTo>
                  <a:pt x="0" y="0"/>
                </a:moveTo>
                <a:lnTo>
                  <a:pt x="0" y="119897"/>
                </a:lnTo>
                <a:lnTo>
                  <a:pt x="0" y="181467"/>
                </a:lnTo>
                <a:lnTo>
                  <a:pt x="0" y="204150"/>
                </a:lnTo>
                <a:lnTo>
                  <a:pt x="0" y="207391"/>
                </a:lnTo>
                <a:lnTo>
                  <a:pt x="11906" y="232535"/>
                </a:lnTo>
                <a:lnTo>
                  <a:pt x="44386" y="252809"/>
                </a:lnTo>
                <a:lnTo>
                  <a:pt x="92582" y="266344"/>
                </a:lnTo>
                <a:lnTo>
                  <a:pt x="151637" y="271272"/>
                </a:lnTo>
                <a:lnTo>
                  <a:pt x="210693" y="266344"/>
                </a:lnTo>
                <a:lnTo>
                  <a:pt x="258889" y="252809"/>
                </a:lnTo>
                <a:lnTo>
                  <a:pt x="291369" y="232535"/>
                </a:lnTo>
                <a:lnTo>
                  <a:pt x="303275" y="207391"/>
                </a:lnTo>
                <a:lnTo>
                  <a:pt x="303275" y="87493"/>
                </a:lnTo>
                <a:lnTo>
                  <a:pt x="303275" y="25923"/>
                </a:lnTo>
                <a:lnTo>
                  <a:pt x="303275" y="3240"/>
                </a:lnTo>
                <a:lnTo>
                  <a:pt x="303275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422851" y="3379389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30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3" y="59060"/>
                </a:lnTo>
                <a:lnTo>
                  <a:pt x="151637" y="64007"/>
                </a:lnTo>
                <a:lnTo>
                  <a:pt x="92582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422851" y="3474894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30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3" y="59060"/>
                </a:lnTo>
                <a:lnTo>
                  <a:pt x="151637" y="64008"/>
                </a:lnTo>
                <a:lnTo>
                  <a:pt x="92582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7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422851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30" h="128269">
                <a:moveTo>
                  <a:pt x="151637" y="0"/>
                </a:moveTo>
                <a:lnTo>
                  <a:pt x="92636" y="5036"/>
                </a:lnTo>
                <a:lnTo>
                  <a:pt x="44434" y="18764"/>
                </a:lnTo>
                <a:lnTo>
                  <a:pt x="11924" y="39112"/>
                </a:lnTo>
                <a:lnTo>
                  <a:pt x="0" y="64007"/>
                </a:lnTo>
                <a:lnTo>
                  <a:pt x="11924" y="88903"/>
                </a:lnTo>
                <a:lnTo>
                  <a:pt x="44434" y="109251"/>
                </a:lnTo>
                <a:lnTo>
                  <a:pt x="92636" y="122979"/>
                </a:lnTo>
                <a:lnTo>
                  <a:pt x="151637" y="128015"/>
                </a:lnTo>
                <a:lnTo>
                  <a:pt x="210639" y="122979"/>
                </a:lnTo>
                <a:lnTo>
                  <a:pt x="258841" y="109251"/>
                </a:lnTo>
                <a:lnTo>
                  <a:pt x="291351" y="88903"/>
                </a:lnTo>
                <a:lnTo>
                  <a:pt x="303275" y="64007"/>
                </a:lnTo>
                <a:lnTo>
                  <a:pt x="291351" y="39112"/>
                </a:lnTo>
                <a:lnTo>
                  <a:pt x="258841" y="18764"/>
                </a:lnTo>
                <a:lnTo>
                  <a:pt x="210639" y="5036"/>
                </a:lnTo>
                <a:lnTo>
                  <a:pt x="151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3422851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30" h="128269">
                <a:moveTo>
                  <a:pt x="0" y="64007"/>
                </a:moveTo>
                <a:lnTo>
                  <a:pt x="11924" y="39112"/>
                </a:lnTo>
                <a:lnTo>
                  <a:pt x="44434" y="18764"/>
                </a:lnTo>
                <a:lnTo>
                  <a:pt x="92636" y="5036"/>
                </a:lnTo>
                <a:lnTo>
                  <a:pt x="151637" y="0"/>
                </a:lnTo>
                <a:lnTo>
                  <a:pt x="210639" y="5036"/>
                </a:lnTo>
                <a:lnTo>
                  <a:pt x="258841" y="18764"/>
                </a:lnTo>
                <a:lnTo>
                  <a:pt x="291351" y="39112"/>
                </a:lnTo>
                <a:lnTo>
                  <a:pt x="303275" y="64007"/>
                </a:lnTo>
                <a:lnTo>
                  <a:pt x="291351" y="88903"/>
                </a:lnTo>
                <a:lnTo>
                  <a:pt x="258841" y="109251"/>
                </a:lnTo>
                <a:lnTo>
                  <a:pt x="210639" y="122979"/>
                </a:lnTo>
                <a:lnTo>
                  <a:pt x="151637" y="128015"/>
                </a:lnTo>
                <a:lnTo>
                  <a:pt x="92636" y="122979"/>
                </a:lnTo>
                <a:lnTo>
                  <a:pt x="44434" y="109251"/>
                </a:lnTo>
                <a:lnTo>
                  <a:pt x="11924" y="88903"/>
                </a:lnTo>
                <a:lnTo>
                  <a:pt x="0" y="6400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3893259" y="3106084"/>
            <a:ext cx="231817" cy="101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4689802" y="3106084"/>
            <a:ext cx="231816" cy="101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4207202" y="3294044"/>
            <a:ext cx="404707" cy="362373"/>
          </a:xfrm>
          <a:custGeom>
            <a:avLst/>
            <a:gdLst/>
            <a:ahLst/>
            <a:cxnLst/>
            <a:rect l="l" t="t" r="r" b="b"/>
            <a:pathLst>
              <a:path w="303529" h="271780">
                <a:moveTo>
                  <a:pt x="0" y="0"/>
                </a:moveTo>
                <a:lnTo>
                  <a:pt x="0" y="119897"/>
                </a:lnTo>
                <a:lnTo>
                  <a:pt x="0" y="181467"/>
                </a:lnTo>
                <a:lnTo>
                  <a:pt x="0" y="204150"/>
                </a:lnTo>
                <a:lnTo>
                  <a:pt x="0" y="207391"/>
                </a:lnTo>
                <a:lnTo>
                  <a:pt x="11906" y="232535"/>
                </a:lnTo>
                <a:lnTo>
                  <a:pt x="44386" y="252809"/>
                </a:lnTo>
                <a:lnTo>
                  <a:pt x="92583" y="266344"/>
                </a:lnTo>
                <a:lnTo>
                  <a:pt x="151637" y="271272"/>
                </a:lnTo>
                <a:lnTo>
                  <a:pt x="210693" y="266344"/>
                </a:lnTo>
                <a:lnTo>
                  <a:pt x="258889" y="252809"/>
                </a:lnTo>
                <a:lnTo>
                  <a:pt x="291369" y="232535"/>
                </a:lnTo>
                <a:lnTo>
                  <a:pt x="303275" y="207391"/>
                </a:lnTo>
                <a:lnTo>
                  <a:pt x="303275" y="87493"/>
                </a:lnTo>
                <a:lnTo>
                  <a:pt x="303275" y="25923"/>
                </a:lnTo>
                <a:lnTo>
                  <a:pt x="303275" y="3240"/>
                </a:lnTo>
                <a:lnTo>
                  <a:pt x="303275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4207202" y="3379389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29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2" y="59060"/>
                </a:lnTo>
                <a:lnTo>
                  <a:pt x="151637" y="64007"/>
                </a:lnTo>
                <a:lnTo>
                  <a:pt x="92583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4207202" y="3474894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29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2" y="59060"/>
                </a:lnTo>
                <a:lnTo>
                  <a:pt x="151637" y="64008"/>
                </a:lnTo>
                <a:lnTo>
                  <a:pt x="92583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7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4207202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29" h="128269">
                <a:moveTo>
                  <a:pt x="151637" y="0"/>
                </a:moveTo>
                <a:lnTo>
                  <a:pt x="92636" y="5036"/>
                </a:lnTo>
                <a:lnTo>
                  <a:pt x="44434" y="18764"/>
                </a:lnTo>
                <a:lnTo>
                  <a:pt x="11924" y="39112"/>
                </a:lnTo>
                <a:lnTo>
                  <a:pt x="0" y="64007"/>
                </a:lnTo>
                <a:lnTo>
                  <a:pt x="11924" y="88903"/>
                </a:lnTo>
                <a:lnTo>
                  <a:pt x="44434" y="109251"/>
                </a:lnTo>
                <a:lnTo>
                  <a:pt x="92636" y="122979"/>
                </a:lnTo>
                <a:lnTo>
                  <a:pt x="151637" y="128015"/>
                </a:lnTo>
                <a:lnTo>
                  <a:pt x="210639" y="122979"/>
                </a:lnTo>
                <a:lnTo>
                  <a:pt x="258841" y="109251"/>
                </a:lnTo>
                <a:lnTo>
                  <a:pt x="291351" y="88903"/>
                </a:lnTo>
                <a:lnTo>
                  <a:pt x="303275" y="64007"/>
                </a:lnTo>
                <a:lnTo>
                  <a:pt x="291351" y="39112"/>
                </a:lnTo>
                <a:lnTo>
                  <a:pt x="258841" y="18764"/>
                </a:lnTo>
                <a:lnTo>
                  <a:pt x="210639" y="5036"/>
                </a:lnTo>
                <a:lnTo>
                  <a:pt x="151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4207202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29" h="128269">
                <a:moveTo>
                  <a:pt x="0" y="64007"/>
                </a:moveTo>
                <a:lnTo>
                  <a:pt x="11924" y="39112"/>
                </a:lnTo>
                <a:lnTo>
                  <a:pt x="44434" y="18764"/>
                </a:lnTo>
                <a:lnTo>
                  <a:pt x="92636" y="5036"/>
                </a:lnTo>
                <a:lnTo>
                  <a:pt x="151637" y="0"/>
                </a:lnTo>
                <a:lnTo>
                  <a:pt x="210639" y="5036"/>
                </a:lnTo>
                <a:lnTo>
                  <a:pt x="258841" y="18764"/>
                </a:lnTo>
                <a:lnTo>
                  <a:pt x="291351" y="39112"/>
                </a:lnTo>
                <a:lnTo>
                  <a:pt x="303275" y="64007"/>
                </a:lnTo>
                <a:lnTo>
                  <a:pt x="291351" y="88903"/>
                </a:lnTo>
                <a:lnTo>
                  <a:pt x="258841" y="109251"/>
                </a:lnTo>
                <a:lnTo>
                  <a:pt x="210639" y="122979"/>
                </a:lnTo>
                <a:lnTo>
                  <a:pt x="151637" y="128015"/>
                </a:lnTo>
                <a:lnTo>
                  <a:pt x="92636" y="122979"/>
                </a:lnTo>
                <a:lnTo>
                  <a:pt x="44434" y="109251"/>
                </a:lnTo>
                <a:lnTo>
                  <a:pt x="11924" y="88903"/>
                </a:lnTo>
                <a:lnTo>
                  <a:pt x="0" y="6400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5038291" y="3294044"/>
            <a:ext cx="404707" cy="362373"/>
          </a:xfrm>
          <a:custGeom>
            <a:avLst/>
            <a:gdLst/>
            <a:ahLst/>
            <a:cxnLst/>
            <a:rect l="l" t="t" r="r" b="b"/>
            <a:pathLst>
              <a:path w="303529" h="271780">
                <a:moveTo>
                  <a:pt x="0" y="0"/>
                </a:moveTo>
                <a:lnTo>
                  <a:pt x="0" y="119897"/>
                </a:lnTo>
                <a:lnTo>
                  <a:pt x="0" y="181467"/>
                </a:lnTo>
                <a:lnTo>
                  <a:pt x="0" y="204150"/>
                </a:lnTo>
                <a:lnTo>
                  <a:pt x="0" y="207391"/>
                </a:lnTo>
                <a:lnTo>
                  <a:pt x="11906" y="232535"/>
                </a:lnTo>
                <a:lnTo>
                  <a:pt x="44386" y="252809"/>
                </a:lnTo>
                <a:lnTo>
                  <a:pt x="92583" y="266344"/>
                </a:lnTo>
                <a:lnTo>
                  <a:pt x="151637" y="271272"/>
                </a:lnTo>
                <a:lnTo>
                  <a:pt x="210693" y="266344"/>
                </a:lnTo>
                <a:lnTo>
                  <a:pt x="258889" y="252809"/>
                </a:lnTo>
                <a:lnTo>
                  <a:pt x="291369" y="232535"/>
                </a:lnTo>
                <a:lnTo>
                  <a:pt x="303275" y="207391"/>
                </a:lnTo>
                <a:lnTo>
                  <a:pt x="303275" y="87493"/>
                </a:lnTo>
                <a:lnTo>
                  <a:pt x="303275" y="25923"/>
                </a:lnTo>
                <a:lnTo>
                  <a:pt x="303275" y="3240"/>
                </a:lnTo>
                <a:lnTo>
                  <a:pt x="303275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5038291" y="3379389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29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2" y="59060"/>
                </a:lnTo>
                <a:lnTo>
                  <a:pt x="151637" y="64007"/>
                </a:lnTo>
                <a:lnTo>
                  <a:pt x="92583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5038291" y="3474894"/>
            <a:ext cx="404707" cy="85513"/>
          </a:xfrm>
          <a:custGeom>
            <a:avLst/>
            <a:gdLst/>
            <a:ahLst/>
            <a:cxnLst/>
            <a:rect l="l" t="t" r="r" b="b"/>
            <a:pathLst>
              <a:path w="303529" h="64135">
                <a:moveTo>
                  <a:pt x="303275" y="0"/>
                </a:moveTo>
                <a:lnTo>
                  <a:pt x="291369" y="25163"/>
                </a:lnTo>
                <a:lnTo>
                  <a:pt x="258889" y="45481"/>
                </a:lnTo>
                <a:lnTo>
                  <a:pt x="210692" y="59060"/>
                </a:lnTo>
                <a:lnTo>
                  <a:pt x="151637" y="64008"/>
                </a:lnTo>
                <a:lnTo>
                  <a:pt x="92583" y="59060"/>
                </a:lnTo>
                <a:lnTo>
                  <a:pt x="44386" y="45481"/>
                </a:lnTo>
                <a:lnTo>
                  <a:pt x="11906" y="25163"/>
                </a:lnTo>
                <a:lnTo>
                  <a:pt x="0" y="0"/>
                </a:lnTo>
              </a:path>
            </a:pathLst>
          </a:custGeom>
          <a:ln w="25907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5038291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29" h="128269">
                <a:moveTo>
                  <a:pt x="151637" y="0"/>
                </a:moveTo>
                <a:lnTo>
                  <a:pt x="92636" y="5036"/>
                </a:lnTo>
                <a:lnTo>
                  <a:pt x="44434" y="18764"/>
                </a:lnTo>
                <a:lnTo>
                  <a:pt x="11924" y="39112"/>
                </a:lnTo>
                <a:lnTo>
                  <a:pt x="0" y="64007"/>
                </a:lnTo>
                <a:lnTo>
                  <a:pt x="11924" y="88903"/>
                </a:lnTo>
                <a:lnTo>
                  <a:pt x="44434" y="109251"/>
                </a:lnTo>
                <a:lnTo>
                  <a:pt x="92636" y="122979"/>
                </a:lnTo>
                <a:lnTo>
                  <a:pt x="151637" y="128015"/>
                </a:lnTo>
                <a:lnTo>
                  <a:pt x="210639" y="122979"/>
                </a:lnTo>
                <a:lnTo>
                  <a:pt x="258841" y="109251"/>
                </a:lnTo>
                <a:lnTo>
                  <a:pt x="291351" y="88903"/>
                </a:lnTo>
                <a:lnTo>
                  <a:pt x="303275" y="64007"/>
                </a:lnTo>
                <a:lnTo>
                  <a:pt x="291351" y="39112"/>
                </a:lnTo>
                <a:lnTo>
                  <a:pt x="258841" y="18764"/>
                </a:lnTo>
                <a:lnTo>
                  <a:pt x="210639" y="5036"/>
                </a:lnTo>
                <a:lnTo>
                  <a:pt x="151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5038291" y="3208701"/>
            <a:ext cx="404707" cy="171027"/>
          </a:xfrm>
          <a:custGeom>
            <a:avLst/>
            <a:gdLst/>
            <a:ahLst/>
            <a:cxnLst/>
            <a:rect l="l" t="t" r="r" b="b"/>
            <a:pathLst>
              <a:path w="303529" h="128269">
                <a:moveTo>
                  <a:pt x="0" y="64007"/>
                </a:moveTo>
                <a:lnTo>
                  <a:pt x="11924" y="39112"/>
                </a:lnTo>
                <a:lnTo>
                  <a:pt x="44434" y="18764"/>
                </a:lnTo>
                <a:lnTo>
                  <a:pt x="92636" y="5036"/>
                </a:lnTo>
                <a:lnTo>
                  <a:pt x="151637" y="0"/>
                </a:lnTo>
                <a:lnTo>
                  <a:pt x="210639" y="5036"/>
                </a:lnTo>
                <a:lnTo>
                  <a:pt x="258841" y="18764"/>
                </a:lnTo>
                <a:lnTo>
                  <a:pt x="291351" y="39112"/>
                </a:lnTo>
                <a:lnTo>
                  <a:pt x="303275" y="64007"/>
                </a:lnTo>
                <a:lnTo>
                  <a:pt x="291351" y="88903"/>
                </a:lnTo>
                <a:lnTo>
                  <a:pt x="258841" y="109251"/>
                </a:lnTo>
                <a:lnTo>
                  <a:pt x="210639" y="122979"/>
                </a:lnTo>
                <a:lnTo>
                  <a:pt x="151637" y="128015"/>
                </a:lnTo>
                <a:lnTo>
                  <a:pt x="92636" y="122979"/>
                </a:lnTo>
                <a:lnTo>
                  <a:pt x="44434" y="109251"/>
                </a:lnTo>
                <a:lnTo>
                  <a:pt x="11924" y="88903"/>
                </a:lnTo>
                <a:lnTo>
                  <a:pt x="0" y="6400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129986" y="2997373"/>
            <a:ext cx="551179" cy="140547"/>
          </a:xfrm>
          <a:custGeom>
            <a:avLst/>
            <a:gdLst/>
            <a:ahLst/>
            <a:cxnLst/>
            <a:rect l="l" t="t" r="r" b="b"/>
            <a:pathLst>
              <a:path w="413385" h="105410">
                <a:moveTo>
                  <a:pt x="0" y="9651"/>
                </a:moveTo>
                <a:lnTo>
                  <a:pt x="0" y="4317"/>
                </a:lnTo>
                <a:lnTo>
                  <a:pt x="4318" y="0"/>
                </a:lnTo>
                <a:lnTo>
                  <a:pt x="9651" y="0"/>
                </a:lnTo>
                <a:lnTo>
                  <a:pt x="403351" y="0"/>
                </a:lnTo>
                <a:lnTo>
                  <a:pt x="408686" y="0"/>
                </a:lnTo>
                <a:lnTo>
                  <a:pt x="413003" y="4317"/>
                </a:lnTo>
                <a:lnTo>
                  <a:pt x="413003" y="9651"/>
                </a:lnTo>
                <a:lnTo>
                  <a:pt x="413003" y="95503"/>
                </a:lnTo>
                <a:lnTo>
                  <a:pt x="413003" y="100837"/>
                </a:lnTo>
                <a:lnTo>
                  <a:pt x="408686" y="105155"/>
                </a:lnTo>
                <a:lnTo>
                  <a:pt x="403351" y="105155"/>
                </a:lnTo>
                <a:lnTo>
                  <a:pt x="9651" y="105155"/>
                </a:lnTo>
                <a:lnTo>
                  <a:pt x="4318" y="105155"/>
                </a:lnTo>
                <a:lnTo>
                  <a:pt x="0" y="100837"/>
                </a:lnTo>
                <a:lnTo>
                  <a:pt x="0" y="95503"/>
                </a:lnTo>
                <a:lnTo>
                  <a:pt x="0" y="9651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4577026" y="3044109"/>
            <a:ext cx="49107" cy="47413"/>
          </a:xfrm>
          <a:custGeom>
            <a:avLst/>
            <a:gdLst/>
            <a:ahLst/>
            <a:cxnLst/>
            <a:rect l="l" t="t" r="r" b="b"/>
            <a:pathLst>
              <a:path w="36829" h="35560">
                <a:moveTo>
                  <a:pt x="0" y="17525"/>
                </a:moveTo>
                <a:lnTo>
                  <a:pt x="0" y="7874"/>
                </a:lnTo>
                <a:lnTo>
                  <a:pt x="8128" y="0"/>
                </a:lnTo>
                <a:lnTo>
                  <a:pt x="18287" y="0"/>
                </a:lnTo>
                <a:lnTo>
                  <a:pt x="28448" y="0"/>
                </a:lnTo>
                <a:lnTo>
                  <a:pt x="36575" y="7874"/>
                </a:lnTo>
                <a:lnTo>
                  <a:pt x="36575" y="17525"/>
                </a:lnTo>
                <a:lnTo>
                  <a:pt x="36575" y="27177"/>
                </a:lnTo>
                <a:lnTo>
                  <a:pt x="28448" y="35051"/>
                </a:lnTo>
                <a:lnTo>
                  <a:pt x="18287" y="35051"/>
                </a:lnTo>
                <a:lnTo>
                  <a:pt x="8128" y="35051"/>
                </a:lnTo>
                <a:lnTo>
                  <a:pt x="0" y="27177"/>
                </a:lnTo>
                <a:lnTo>
                  <a:pt x="0" y="17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4190948" y="3068493"/>
            <a:ext cx="258233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193547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4940755" y="2995342"/>
            <a:ext cx="551179" cy="138852"/>
          </a:xfrm>
          <a:custGeom>
            <a:avLst/>
            <a:gdLst/>
            <a:ahLst/>
            <a:cxnLst/>
            <a:rect l="l" t="t" r="r" b="b"/>
            <a:pathLst>
              <a:path w="413385" h="104139">
                <a:moveTo>
                  <a:pt x="0" y="9525"/>
                </a:moveTo>
                <a:lnTo>
                  <a:pt x="0" y="4317"/>
                </a:lnTo>
                <a:lnTo>
                  <a:pt x="4317" y="0"/>
                </a:lnTo>
                <a:lnTo>
                  <a:pt x="9525" y="0"/>
                </a:lnTo>
                <a:lnTo>
                  <a:pt x="403478" y="0"/>
                </a:lnTo>
                <a:lnTo>
                  <a:pt x="408686" y="0"/>
                </a:lnTo>
                <a:lnTo>
                  <a:pt x="413003" y="4317"/>
                </a:lnTo>
                <a:lnTo>
                  <a:pt x="413003" y="9525"/>
                </a:lnTo>
                <a:lnTo>
                  <a:pt x="413003" y="94107"/>
                </a:lnTo>
                <a:lnTo>
                  <a:pt x="413003" y="99313"/>
                </a:lnTo>
                <a:lnTo>
                  <a:pt x="408686" y="103632"/>
                </a:lnTo>
                <a:lnTo>
                  <a:pt x="403478" y="103632"/>
                </a:lnTo>
                <a:lnTo>
                  <a:pt x="9525" y="103632"/>
                </a:lnTo>
                <a:lnTo>
                  <a:pt x="4317" y="103632"/>
                </a:lnTo>
                <a:lnTo>
                  <a:pt x="0" y="99313"/>
                </a:lnTo>
                <a:lnTo>
                  <a:pt x="0" y="94107"/>
                </a:lnTo>
                <a:lnTo>
                  <a:pt x="0" y="9525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5389826" y="3040044"/>
            <a:ext cx="47413" cy="49107"/>
          </a:xfrm>
          <a:custGeom>
            <a:avLst/>
            <a:gdLst/>
            <a:ahLst/>
            <a:cxnLst/>
            <a:rect l="l" t="t" r="r" b="b"/>
            <a:pathLst>
              <a:path w="35560" h="36830">
                <a:moveTo>
                  <a:pt x="0" y="18287"/>
                </a:moveTo>
                <a:lnTo>
                  <a:pt x="0" y="8127"/>
                </a:lnTo>
                <a:lnTo>
                  <a:pt x="7874" y="0"/>
                </a:lnTo>
                <a:lnTo>
                  <a:pt x="17525" y="0"/>
                </a:lnTo>
                <a:lnTo>
                  <a:pt x="27178" y="0"/>
                </a:lnTo>
                <a:lnTo>
                  <a:pt x="35051" y="8127"/>
                </a:lnTo>
                <a:lnTo>
                  <a:pt x="35051" y="18287"/>
                </a:lnTo>
                <a:lnTo>
                  <a:pt x="35051" y="28448"/>
                </a:lnTo>
                <a:lnTo>
                  <a:pt x="27178" y="36575"/>
                </a:lnTo>
                <a:lnTo>
                  <a:pt x="17525" y="36575"/>
                </a:lnTo>
                <a:lnTo>
                  <a:pt x="7874" y="36575"/>
                </a:lnTo>
                <a:lnTo>
                  <a:pt x="0" y="28448"/>
                </a:lnTo>
                <a:lnTo>
                  <a:pt x="0" y="18287"/>
                </a:lnTo>
                <a:close/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5003748" y="3064429"/>
            <a:ext cx="256540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192023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438859" y="2195749"/>
            <a:ext cx="5484705" cy="349673"/>
          </a:xfrm>
          <a:custGeom>
            <a:avLst/>
            <a:gdLst/>
            <a:ahLst/>
            <a:cxnLst/>
            <a:rect l="l" t="t" r="r" b="b"/>
            <a:pathLst>
              <a:path w="4113529" h="262255">
                <a:moveTo>
                  <a:pt x="0" y="262127"/>
                </a:moveTo>
                <a:lnTo>
                  <a:pt x="4113276" y="262127"/>
                </a:lnTo>
                <a:lnTo>
                  <a:pt x="4113276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689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438859" y="2195749"/>
            <a:ext cx="5484705" cy="349673"/>
          </a:xfrm>
          <a:custGeom>
            <a:avLst/>
            <a:gdLst/>
            <a:ahLst/>
            <a:cxnLst/>
            <a:rect l="l" t="t" r="r" b="b"/>
            <a:pathLst>
              <a:path w="4113529" h="262255">
                <a:moveTo>
                  <a:pt x="0" y="262127"/>
                </a:moveTo>
                <a:lnTo>
                  <a:pt x="4113276" y="262127"/>
                </a:lnTo>
                <a:lnTo>
                  <a:pt x="4113276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ln w="6095">
            <a:solidFill>
              <a:srgbClr val="00689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 txBox="1"/>
          <p:nvPr/>
        </p:nvSpPr>
        <p:spPr>
          <a:xfrm>
            <a:off x="438859" y="2191686"/>
            <a:ext cx="5484705" cy="308696"/>
          </a:xfrm>
          <a:prstGeom prst="rect">
            <a:avLst/>
          </a:prstGeom>
          <a:solidFill>
            <a:srgbClr val="006899"/>
          </a:solidFill>
        </p:spPr>
        <p:txBody>
          <a:bodyPr vert="horz" wrap="square" lIns="0" tIns="21167" rIns="0" bIns="0" rtlCol="0">
            <a:spAutoFit/>
          </a:bodyPr>
          <a:lstStyle/>
          <a:p>
            <a:pPr marL="1597620">
              <a:spcBef>
                <a:spcPts val="167"/>
              </a:spcBef>
            </a:pPr>
            <a:r>
              <a:rPr sz="1867" spc="-33" dirty="0">
                <a:solidFill>
                  <a:srgbClr val="FFFFFF"/>
                </a:solidFill>
                <a:latin typeface="Calibri Light"/>
                <a:cs typeface="Calibri Light"/>
              </a:rPr>
              <a:t>Traditional</a:t>
            </a:r>
            <a:r>
              <a:rPr sz="1867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67" spc="-20" dirty="0">
                <a:solidFill>
                  <a:srgbClr val="FFFFFF"/>
                </a:solidFill>
                <a:latin typeface="Calibri Light"/>
                <a:cs typeface="Calibri Light"/>
              </a:rPr>
              <a:t>Architectures</a:t>
            </a:r>
            <a:endParaRPr sz="1867" dirty="0">
              <a:latin typeface="Calibri Light"/>
              <a:cs typeface="Calibri Ligh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242251" y="2191686"/>
            <a:ext cx="5484705" cy="308696"/>
          </a:xfrm>
          <a:prstGeom prst="rect">
            <a:avLst/>
          </a:prstGeom>
          <a:solidFill>
            <a:srgbClr val="F36F20"/>
          </a:solidFill>
        </p:spPr>
        <p:txBody>
          <a:bodyPr vert="horz" wrap="square" lIns="0" tIns="21167" rIns="0" bIns="0" rtlCol="0">
            <a:spAutoFit/>
          </a:bodyPr>
          <a:lstStyle/>
          <a:p>
            <a:pPr marL="4233" algn="ctr">
              <a:spcBef>
                <a:spcPts val="167"/>
              </a:spcBef>
            </a:pPr>
            <a:r>
              <a:rPr sz="1867" spc="-20" dirty="0">
                <a:solidFill>
                  <a:srgbClr val="FFFFFF"/>
                </a:solidFill>
                <a:latin typeface="Calibri Light"/>
                <a:cs typeface="Calibri Light"/>
              </a:rPr>
              <a:t>Snowflake</a:t>
            </a:r>
            <a:endParaRPr sz="1867">
              <a:latin typeface="Calibri Light"/>
              <a:cs typeface="Calibri Ligh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706859" y="6393214"/>
            <a:ext cx="1888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7" dirty="0">
                <a:latin typeface="Calibri Light"/>
                <a:cs typeface="Calibri Light"/>
              </a:rPr>
              <a:t>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F4F4A6F3-CA2F-4589-BDCC-1F7D6AEACD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42499" y="5659826"/>
            <a:ext cx="1924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lang="en-IN" smtClean="0"/>
              <a:pPr marL="95885">
                <a:lnSpc>
                  <a:spcPts val="955"/>
                </a:lnSpc>
              </a:pPr>
              <a:t>2</a:t>
            </a:fld>
            <a:endParaRPr lang="en-IN" dirty="0"/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545AECD6-7123-4C47-8F2B-E8BB94B91C9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Concepts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17643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Concepts &amp;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03249"/>
            <a:ext cx="12125325" cy="5954750"/>
          </a:xfrm>
        </p:spPr>
        <p:txBody>
          <a:bodyPr>
            <a:normAutofit/>
          </a:bodyPr>
          <a:lstStyle/>
          <a:p>
            <a:r>
              <a:rPr lang="en-IN" dirty="0"/>
              <a:t>Snowflake Architecture</a:t>
            </a:r>
          </a:p>
          <a:p>
            <a:pPr lvl="1"/>
            <a:r>
              <a:rPr lang="en-US" dirty="0"/>
              <a:t>Snowflake’s architecture is a hybrid of traditional shared-disk database architectures and shared-nothing database architectures.</a:t>
            </a:r>
          </a:p>
          <a:p>
            <a:pPr lvl="1"/>
            <a:r>
              <a:rPr lang="en-US" dirty="0"/>
              <a:t>Similar to shared-disk architectures, Snowflake uses a central data repository for persisted data that is accessible from all compute nodes in the data warehouse</a:t>
            </a:r>
          </a:p>
          <a:p>
            <a:pPr lvl="1"/>
            <a:r>
              <a:rPr lang="en-US" dirty="0"/>
              <a:t>Similar to shared-nothing architectures, Snowflake processes queries using MPP (massively parallel processing) compute clusters where each node in the cluster stores a portion of the entire data set locally</a:t>
            </a:r>
          </a:p>
          <a:p>
            <a:pPr lvl="1"/>
            <a:r>
              <a:rPr lang="en-US" dirty="0"/>
              <a:t>This approach offers the data management simplicity of a shared-disk architecture, but with the performance and scale-out benefits of a shared-nothing architecture</a:t>
            </a:r>
          </a:p>
          <a:p>
            <a:r>
              <a:rPr lang="en-US" dirty="0"/>
              <a:t>Snowflake’s unique architecture consists of three key layers:</a:t>
            </a:r>
          </a:p>
          <a:p>
            <a:pPr lvl="1"/>
            <a:r>
              <a:rPr lang="en-US" dirty="0"/>
              <a:t>Database Storage</a:t>
            </a:r>
          </a:p>
          <a:p>
            <a:pPr lvl="1"/>
            <a:r>
              <a:rPr lang="en-US" dirty="0"/>
              <a:t>Query Processing</a:t>
            </a:r>
          </a:p>
          <a:p>
            <a:pPr lvl="1"/>
            <a:r>
              <a:rPr lang="en-US" dirty="0"/>
              <a:t>Cloud Services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26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DC1E-D79E-4B07-9148-EA99D7DF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8552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dirty="0"/>
              <a:t>Snowflake Hybrid Architecture</a:t>
            </a:r>
          </a:p>
        </p:txBody>
      </p:sp>
      <p:pic>
        <p:nvPicPr>
          <p:cNvPr id="1026" name="Picture 2" descr="Image result for snowflake architecture">
            <a:extLst>
              <a:ext uri="{FF2B5EF4-FFF2-40B4-BE49-F238E27FC236}">
                <a16:creationId xmlns:a16="http://schemas.microsoft.com/office/drawing/2014/main" id="{7E5C5DD9-4B7D-4F9F-99C6-06AF0F7D7F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825624"/>
            <a:ext cx="11801475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49D4B3-0556-4CD3-A3F2-2B048AF39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AC0B-B341-49E9-AE32-72C55166E7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773723"/>
            <a:ext cx="12125325" cy="6084276"/>
          </a:xfrm>
        </p:spPr>
        <p:txBody>
          <a:bodyPr>
            <a:normAutofit/>
          </a:bodyPr>
          <a:lstStyle/>
          <a:p>
            <a:r>
              <a:rPr lang="en-IN" dirty="0"/>
              <a:t>Database Storage</a:t>
            </a:r>
          </a:p>
          <a:p>
            <a:pPr lvl="1"/>
            <a:r>
              <a:rPr lang="en-US" sz="2000" dirty="0"/>
              <a:t>Snowflake Data , loaded or stored reorganizes that data into its internal optimized, compressed, columnar format. Snowflake stores this optimized data in cloud storage.</a:t>
            </a:r>
          </a:p>
          <a:p>
            <a:pPr lvl="1"/>
            <a:r>
              <a:rPr lang="en-US" sz="2000" dirty="0"/>
              <a:t>The data objects stored by Snowflake are not directly visible nor accessible by customers; they are only accessible through SQL query operations run using Snowflake.</a:t>
            </a:r>
          </a:p>
          <a:p>
            <a:r>
              <a:rPr lang="en-IN" dirty="0"/>
              <a:t>Query Processing</a:t>
            </a:r>
          </a:p>
          <a:p>
            <a:pPr lvl="1"/>
            <a:r>
              <a:rPr lang="en-US" sz="2000" dirty="0"/>
              <a:t>Snowflake processes queries using “virtual warehouses”. Each virtual warehouse is an MPP compute cluster composed of multiple compute nodes allocated by Snowflake from a cloud provider.</a:t>
            </a:r>
          </a:p>
          <a:p>
            <a:pPr lvl="1"/>
            <a:r>
              <a:rPr lang="en-US" sz="2000" dirty="0"/>
              <a:t>Each virtual warehouse is an independent compute cluster that does not share compute resources with other virtual warehouses</a:t>
            </a:r>
          </a:p>
          <a:p>
            <a:r>
              <a:rPr lang="en-IN" dirty="0"/>
              <a:t>Cloud Services</a:t>
            </a:r>
          </a:p>
          <a:p>
            <a:pPr lvl="1"/>
            <a:r>
              <a:rPr lang="en-US" sz="2000" dirty="0"/>
              <a:t>The cloud services layer is a collection of services that coordinate activities across Snowflake</a:t>
            </a:r>
          </a:p>
          <a:p>
            <a:pPr lvl="1"/>
            <a:r>
              <a:rPr lang="en-US" sz="2000" dirty="0"/>
              <a:t>These services tie together all of the different components of Snowflake in order to process user requests, from login to query dispatch</a:t>
            </a:r>
          </a:p>
          <a:p>
            <a:pPr lvl="1"/>
            <a:r>
              <a:rPr lang="en-US" sz="2000" dirty="0"/>
              <a:t>The cloud services layer also runs on compute instances provisioned by Snowflake from the cloud provider</a:t>
            </a:r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84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>
            <a:normAutofit/>
          </a:bodyPr>
          <a:lstStyle/>
          <a:p>
            <a:r>
              <a:rPr lang="en-IN" dirty="0"/>
              <a:t>Cloud Services</a:t>
            </a:r>
          </a:p>
          <a:p>
            <a:pPr lvl="1"/>
            <a:r>
              <a:rPr lang="en-US" dirty="0"/>
              <a:t>Among the services in this layer:</a:t>
            </a:r>
          </a:p>
          <a:p>
            <a:pPr lvl="2"/>
            <a:r>
              <a:rPr lang="en-US" dirty="0"/>
              <a:t>Authentication</a:t>
            </a:r>
          </a:p>
          <a:p>
            <a:pPr lvl="2"/>
            <a:r>
              <a:rPr lang="en-US" dirty="0"/>
              <a:t>Infrastructure management</a:t>
            </a:r>
          </a:p>
          <a:p>
            <a:pPr lvl="2"/>
            <a:r>
              <a:rPr lang="en-US" dirty="0"/>
              <a:t>Metadata management</a:t>
            </a:r>
          </a:p>
          <a:p>
            <a:pPr lvl="2"/>
            <a:r>
              <a:rPr lang="en-US" dirty="0"/>
              <a:t>Query parsing and optimization</a:t>
            </a:r>
          </a:p>
          <a:p>
            <a:pPr lvl="2"/>
            <a:r>
              <a:rPr lang="en-US" dirty="0"/>
              <a:t>Access control</a:t>
            </a:r>
          </a:p>
          <a:p>
            <a:pPr lvl="1"/>
            <a:endParaRPr lang="en-IN" sz="2000" dirty="0"/>
          </a:p>
          <a:p>
            <a:r>
              <a:rPr lang="en-IN" dirty="0"/>
              <a:t>Connecting to Snowflake</a:t>
            </a:r>
          </a:p>
          <a:p>
            <a:pPr lvl="2"/>
            <a:r>
              <a:rPr lang="en-IN" dirty="0"/>
              <a:t>Web UI – Web Interface </a:t>
            </a:r>
          </a:p>
          <a:p>
            <a:pPr lvl="2"/>
            <a:r>
              <a:rPr lang="en-IN" dirty="0"/>
              <a:t>CLI – </a:t>
            </a:r>
            <a:r>
              <a:rPr lang="en-IN" dirty="0" err="1"/>
              <a:t>SnowSQL</a:t>
            </a:r>
            <a:r>
              <a:rPr lang="en-IN" dirty="0"/>
              <a:t> – Command Line Utility</a:t>
            </a:r>
          </a:p>
          <a:p>
            <a:pPr lvl="2"/>
            <a:r>
              <a:rPr lang="en-IN" dirty="0"/>
              <a:t>ODBC – JDBC</a:t>
            </a:r>
          </a:p>
          <a:p>
            <a:pPr lvl="2"/>
            <a:r>
              <a:rPr lang="en-IN" dirty="0"/>
              <a:t>Native Connectors – Java, Python</a:t>
            </a:r>
          </a:p>
          <a:p>
            <a:pPr lvl="2"/>
            <a:r>
              <a:rPr lang="en-IN" dirty="0"/>
              <a:t>Third Party Connectors – ETL Tools – Informatica, Talend, </a:t>
            </a:r>
            <a:r>
              <a:rPr lang="en-IN" dirty="0" err="1"/>
              <a:t>Matallion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62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773723"/>
            <a:ext cx="12125325" cy="6084276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0" i="0" dirty="0">
                <a:solidFill>
                  <a:srgbClr val="505C63"/>
                </a:solidFill>
                <a:effectLst/>
                <a:latin typeface="Helvetica" panose="020B0604020202020204" pitchFamily="34" charset="0"/>
              </a:rPr>
              <a:t>Differences Between Regions</a:t>
            </a:r>
          </a:p>
          <a:p>
            <a:pPr lvl="1"/>
            <a:r>
              <a:rPr lang="en-US" sz="2000" dirty="0"/>
              <a:t>Snowflake features and services are identical across regions except for some newly-introduced features (based on cloud platform or region). However, there are some differences in unit costs for credits and data storage between regions.</a:t>
            </a:r>
          </a:p>
          <a:p>
            <a:pPr lvl="1"/>
            <a:r>
              <a:rPr lang="en-US" sz="2000" dirty="0"/>
              <a:t>Another factor that impacts unit costs is whether your Snowflake account is On Demand or </a:t>
            </a:r>
            <a:r>
              <a:rPr lang="en-US" sz="2000"/>
              <a:t>Capacity.</a:t>
            </a:r>
          </a:p>
          <a:p>
            <a:pPr lvl="1"/>
            <a:endParaRPr lang="en-IN" sz="2000" dirty="0"/>
          </a:p>
          <a:p>
            <a:pPr algn="l"/>
            <a:r>
              <a:rPr lang="en-US" b="0" i="0" dirty="0">
                <a:solidFill>
                  <a:srgbClr val="505C63"/>
                </a:solidFill>
                <a:effectLst/>
                <a:latin typeface="Helvetica" panose="020B0604020202020204" pitchFamily="34" charset="0"/>
              </a:rPr>
              <a:t>Considerations for Choosing a Region for Your Account</a:t>
            </a:r>
          </a:p>
          <a:p>
            <a:pPr lvl="1"/>
            <a:r>
              <a:rPr lang="en-US" sz="1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you request a Snowflake account, either through self-service or a Snowflake representative, you can choose the region where the account is located. </a:t>
            </a:r>
          </a:p>
          <a:p>
            <a:pPr lvl="1"/>
            <a:r>
              <a:rPr lang="en-US" sz="1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example, you can decide to locate an account in a particular region on a particular cloud platform to address latency concerns and/or provide additional backup and disaster recovery beyond the standard recovery support provided by Snowflake. Snowflake does not place any restrictions on the region where you choose to locate each account.</a:t>
            </a:r>
          </a:p>
          <a:p>
            <a:pPr lvl="1"/>
            <a:r>
              <a:rPr lang="en-US" sz="1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latency is a concern, you should choose the available region with the closest geographic proximity to your end users; however, this may have cost implications, due to pricing differences between the regions</a:t>
            </a:r>
          </a:p>
          <a:p>
            <a:pPr lvl="1"/>
            <a:r>
              <a:rPr lang="en-US" sz="1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you are a government agency or a commercial organization that must comply with specific privacy and security requirements of the US government, you can choose between two dedicated government regions provided by Snowflake.</a:t>
            </a:r>
          </a:p>
          <a:p>
            <a:pPr lvl="1"/>
            <a:r>
              <a:rPr lang="en-US" sz="1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Regions do not limit user access to Snowflake; they only dictate the geographic location where data is stored and compute resources are provisioned.</a:t>
            </a:r>
          </a:p>
          <a:p>
            <a:pPr lvl="1"/>
            <a:r>
              <a:rPr lang="en-US" sz="1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addition, Snowflake does not move data between accounts, so any data in an account in a region remains in the region unless users explicitly choose to copy, move, or replicate the data.</a:t>
            </a:r>
          </a:p>
          <a:p>
            <a:pPr lvl="1"/>
            <a:endParaRPr lang="en-US" sz="17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64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AF97-F8D6-4135-A638-6696EEBE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0224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000" b="1" dirty="0"/>
              <a:t>Virtual Warehouse Sizes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E81430-7788-46A0-9105-A265E1248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03" y="803276"/>
            <a:ext cx="11969994" cy="3509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F63213-413E-4FEB-A696-039A634B2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3" y="4460913"/>
            <a:ext cx="11969994" cy="24082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F720B-E49C-4C29-9E12-79AC657E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AC0B-B341-49E9-AE32-72C55166E7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07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Platforms &amp; Pricing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>
            <a:normAutofit/>
          </a:bodyPr>
          <a:lstStyle/>
          <a:p>
            <a:r>
              <a:rPr lang="en-IN" dirty="0"/>
              <a:t>Supported Cloud Platforms</a:t>
            </a:r>
          </a:p>
          <a:p>
            <a:pPr lvl="1"/>
            <a:r>
              <a:rPr lang="en-US" dirty="0"/>
              <a:t>AWS</a:t>
            </a:r>
          </a:p>
          <a:p>
            <a:pPr lvl="1"/>
            <a:r>
              <a:rPr lang="en-US" dirty="0"/>
              <a:t>Azure</a:t>
            </a:r>
          </a:p>
          <a:p>
            <a:pPr lvl="1"/>
            <a:r>
              <a:rPr lang="en-US" dirty="0"/>
              <a:t>GCP</a:t>
            </a:r>
          </a:p>
          <a:p>
            <a:pPr lvl="1"/>
            <a:r>
              <a:rPr lang="en-US" dirty="0"/>
              <a:t>Each platform provides one or more regions where the account is provisioned</a:t>
            </a:r>
          </a:p>
          <a:p>
            <a:pPr lvl="1"/>
            <a:r>
              <a:rPr lang="en-US" dirty="0"/>
              <a:t>The cloud platform you choose for each Snowflake account is completely independent from your other Snowflake accounts</a:t>
            </a:r>
          </a:p>
          <a:p>
            <a:r>
              <a:rPr lang="en-US" sz="2400" dirty="0"/>
              <a:t>Pricing</a:t>
            </a:r>
          </a:p>
          <a:p>
            <a:pPr lvl="1"/>
            <a:r>
              <a:rPr lang="en-US" dirty="0"/>
              <a:t>Differences in unit costs for credits and data storage are calculated by region and cloud platform</a:t>
            </a:r>
          </a:p>
          <a:p>
            <a:pPr lvl="1"/>
            <a:r>
              <a:rPr lang="en-IN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Pricing Page :</a:t>
            </a:r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dirty="0">
                <a:hlinkClick r:id="rId2"/>
              </a:rPr>
              <a:t>pricing page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2642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Data Loading &amp; Naming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03249"/>
            <a:ext cx="12125325" cy="5954750"/>
          </a:xfrm>
        </p:spPr>
        <p:txBody>
          <a:bodyPr>
            <a:normAutofit/>
          </a:bodyPr>
          <a:lstStyle/>
          <a:p>
            <a:r>
              <a:rPr lang="en-IN" dirty="0"/>
              <a:t>Data Loading</a:t>
            </a:r>
          </a:p>
          <a:p>
            <a:pPr lvl="1"/>
            <a:r>
              <a:rPr lang="en-US" sz="2000" dirty="0"/>
              <a:t>Snowflake supports loading data from files staged in any of the following locations, regardless of the cloud platform for your Snowflake account:</a:t>
            </a:r>
          </a:p>
          <a:p>
            <a:pPr lvl="2"/>
            <a:r>
              <a:rPr lang="en-US" sz="1800" dirty="0"/>
              <a:t>Internal (i.e. Snowflake) stages</a:t>
            </a:r>
          </a:p>
          <a:p>
            <a:pPr lvl="2"/>
            <a:r>
              <a:rPr lang="en-US" sz="1800" dirty="0"/>
              <a:t>Amazon S3</a:t>
            </a:r>
          </a:p>
          <a:p>
            <a:pPr lvl="2"/>
            <a:r>
              <a:rPr lang="en-US" sz="1800" dirty="0"/>
              <a:t>Google Cloud Storage</a:t>
            </a:r>
          </a:p>
          <a:p>
            <a:pPr lvl="2"/>
            <a:r>
              <a:rPr lang="en-US" sz="1800" dirty="0"/>
              <a:t>Microsoft Azure blob storage</a:t>
            </a:r>
          </a:p>
          <a:p>
            <a:pPr lvl="1"/>
            <a:r>
              <a:rPr lang="en-US" sz="2000" dirty="0"/>
              <a:t>Snowflake supports both bulk data loading and continuous data loading (</a:t>
            </a:r>
            <a:r>
              <a:rPr lang="en-US" sz="2000" dirty="0" err="1"/>
              <a:t>Snowpipe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Snowflake supports unloading data from tables into any of the above staging locations</a:t>
            </a:r>
            <a:r>
              <a:rPr lang="en-US" dirty="0"/>
              <a:t>.</a:t>
            </a:r>
          </a:p>
          <a:p>
            <a:r>
              <a:rPr lang="en-US" dirty="0"/>
              <a:t>Specifying Region Information in Your Account Hostname</a:t>
            </a:r>
          </a:p>
          <a:p>
            <a:pPr lvl="1"/>
            <a:r>
              <a:rPr lang="en-US" sz="2000" dirty="0"/>
              <a:t>A hostname for a Snowflake account starts with an account name (provided by Snowflake) and ends with the Snowflake domain</a:t>
            </a:r>
            <a:endParaRPr lang="en-IN" sz="2000" dirty="0"/>
          </a:p>
          <a:p>
            <a:pPr lvl="1"/>
            <a:r>
              <a:rPr lang="en-IN" sz="2000" i="1" dirty="0"/>
              <a:t>&lt;</a:t>
            </a:r>
            <a:r>
              <a:rPr lang="en-IN" sz="2000" i="1" dirty="0" err="1"/>
              <a:t>account_name</a:t>
            </a:r>
            <a:r>
              <a:rPr lang="en-IN" sz="2000" i="1" dirty="0"/>
              <a:t>&gt;</a:t>
            </a:r>
            <a:r>
              <a:rPr lang="en-IN" sz="2000" dirty="0"/>
              <a:t>.snowflakecomputing.com</a:t>
            </a:r>
          </a:p>
        </p:txBody>
      </p:sp>
    </p:spTree>
    <p:extLst>
      <p:ext uri="{BB962C8B-B14F-4D97-AF65-F5344CB8AC3E}">
        <p14:creationId xmlns:p14="http://schemas.microsoft.com/office/powerpoint/2010/main" val="131725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Regions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773723"/>
            <a:ext cx="12125325" cy="6084276"/>
          </a:xfrm>
        </p:spPr>
        <p:txBody>
          <a:bodyPr>
            <a:normAutofit/>
          </a:bodyPr>
          <a:lstStyle/>
          <a:p>
            <a:r>
              <a:rPr lang="en-IN" dirty="0"/>
              <a:t>Snowflake Regions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 descr="A map with text&#10;&#10;Description automatically generated">
            <a:extLst>
              <a:ext uri="{FF2B5EF4-FFF2-40B4-BE49-F238E27FC236}">
                <a16:creationId xmlns:a16="http://schemas.microsoft.com/office/drawing/2014/main" id="{AFD0624C-1BF1-44A7-97C2-75E8E7B46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1628077"/>
            <a:ext cx="12058650" cy="520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1A14-0ABF-4176-95E5-BB5E5029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Snowflake Editions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AC6A22-F280-4530-872F-D25389BC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AC0B-B341-49E9-AE32-72C55166E7B3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4A000-BD86-45FA-96B0-79A52F7BA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CBEFD2-9678-4505-A3EF-29A5ED494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89" r="3507" b="-2"/>
          <a:stretch/>
        </p:blipFill>
        <p:spPr>
          <a:xfrm>
            <a:off x="0" y="825191"/>
            <a:ext cx="12192000" cy="603280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06376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F6F3-F2E0-41AD-97A9-CF0B8AD1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650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Snowflake Editions 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53655A-0E5D-4463-8957-D4E366DBF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2652"/>
            <a:ext cx="12191999" cy="58388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2C66A1-19C7-4918-9589-E4B06159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AC0B-B341-49E9-AE32-72C55166E7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07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F6F3-F2E0-41AD-97A9-CF0B8AD1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dirty="0"/>
              <a:t>Snowflake Editions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26FEA-BC62-437A-AFC2-E584E577D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E738D3-EFD6-401E-AEAC-B4E70CA59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527"/>
            <a:ext cx="11667636" cy="5170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740AD2-00D3-4716-983E-F12E065A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4208"/>
            <a:ext cx="12192000" cy="5863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4F8698-BDE8-474D-8DB2-4F1BD5EB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AC0B-B341-49E9-AE32-72C55166E7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5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37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Release Management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773723"/>
            <a:ext cx="12125325" cy="608427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Snowflake Releases</a:t>
            </a:r>
          </a:p>
          <a:p>
            <a:pPr lvl="1"/>
            <a:r>
              <a:rPr lang="en-US" sz="1800" dirty="0"/>
              <a:t>Snowflake new releases and patch releases each week in the form of new features, enhancements, and fixes</a:t>
            </a:r>
          </a:p>
          <a:p>
            <a:pPr lvl="1"/>
            <a:r>
              <a:rPr lang="en-US" sz="1800" dirty="0"/>
              <a:t>The deployments happen transparently in the background</a:t>
            </a:r>
          </a:p>
          <a:p>
            <a:pPr lvl="1"/>
            <a:r>
              <a:rPr lang="en-US" sz="1800" dirty="0"/>
              <a:t>Users experience no downtime or disruption of service, and are always assured of running on the most-recent release with access to the latest features</a:t>
            </a:r>
          </a:p>
          <a:p>
            <a:r>
              <a:rPr lang="en-US" sz="2400" dirty="0"/>
              <a:t>Release Types </a:t>
            </a:r>
          </a:p>
          <a:p>
            <a:pPr lvl="1"/>
            <a:r>
              <a:rPr lang="en-US" sz="1800" dirty="0"/>
              <a:t>New Releases </a:t>
            </a:r>
          </a:p>
          <a:p>
            <a:pPr lvl="1"/>
            <a:r>
              <a:rPr lang="en-US" sz="1800" dirty="0"/>
              <a:t>Patch Release</a:t>
            </a:r>
          </a:p>
          <a:p>
            <a:r>
              <a:rPr lang="en-IN" sz="2400" dirty="0"/>
              <a:t>Pre-release Testing/Validation</a:t>
            </a:r>
          </a:p>
          <a:p>
            <a:r>
              <a:rPr lang="en-IN" sz="2400" dirty="0"/>
              <a:t>Staged Release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Once a new release has been deployed, Snowflake does not move all accounts to the release at the same time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Accounts are moved to the release using a three stage approach over two days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This staged approach only applies to new releases. For patch releases, all accounts are moved to the patch release on the same day.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Day 1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Stage 1 (early access) for designated Enterprise accounts.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Day 1 or 2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Stage 2 (regular access) for all Standard Edition accounts.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Day 2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Stage 3 (final) for all Enterprise Edition and VPS accounts.</a:t>
            </a:r>
          </a:p>
          <a:p>
            <a:pPr lvl="1"/>
            <a:endParaRPr lang="en-IN" sz="2000" dirty="0"/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88105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ADCD3-76D3-4714-99E8-99652A835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2886075"/>
            <a:ext cx="6619875" cy="3881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A376AC-276C-401F-AE17-93104A36FB9D}"/>
              </a:ext>
            </a:extLst>
          </p:cNvPr>
          <p:cNvSpPr txBox="1"/>
          <p:nvPr/>
        </p:nvSpPr>
        <p:spPr>
          <a:xfrm>
            <a:off x="142875" y="998219"/>
            <a:ext cx="116014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Logging into the Snowflake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Please enter / click on the </a:t>
            </a:r>
            <a:r>
              <a:rPr lang="en-IN" dirty="0" err="1"/>
              <a:t>Url</a:t>
            </a:r>
            <a:r>
              <a:rPr lang="en-IN" dirty="0"/>
              <a:t> that you have received in your email for the trial Snowflake Account you have requested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Log Into the Snowflake Account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Enter your User Name And Password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885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US" dirty="0"/>
              <a:t>Snowflake web-based graphical interface, you can create and manage all Snowflake objects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Virtual Warehouses</a:t>
            </a:r>
          </a:p>
          <a:p>
            <a:pPr lvl="1"/>
            <a:r>
              <a:rPr lang="en-IN" dirty="0"/>
              <a:t> All Database Objects (Schemas, Tables, Stages etc..)</a:t>
            </a:r>
          </a:p>
          <a:p>
            <a:pPr lvl="1"/>
            <a:r>
              <a:rPr lang="en-IN" dirty="0"/>
              <a:t>Load Limited Amount of Data into Tables</a:t>
            </a:r>
          </a:p>
          <a:p>
            <a:pPr lvl="1"/>
            <a:r>
              <a:rPr lang="en-IN" dirty="0"/>
              <a:t>Execute Queries	, DDL and DML Operations</a:t>
            </a:r>
          </a:p>
          <a:p>
            <a:pPr lvl="1"/>
            <a:r>
              <a:rPr lang="en-IN" dirty="0"/>
              <a:t>Based on the Role (Privileges) you have you can perform admin actions like Creating and Managing Users</a:t>
            </a:r>
          </a:p>
          <a:p>
            <a:r>
              <a:rPr lang="en-IN" dirty="0"/>
              <a:t>Logging into the Snowflake</a:t>
            </a:r>
          </a:p>
          <a:p>
            <a:r>
              <a:rPr lang="en-IN" dirty="0"/>
              <a:t>Please enter / click on the </a:t>
            </a:r>
            <a:r>
              <a:rPr lang="en-IN" dirty="0" err="1"/>
              <a:t>Url</a:t>
            </a:r>
            <a:r>
              <a:rPr lang="en-IN" dirty="0"/>
              <a:t> that you have received in your email for the trial Snowflake Account you have requested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875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IN" dirty="0" err="1"/>
              <a:t>WebUI</a:t>
            </a:r>
            <a:r>
              <a:rPr lang="en-IN" dirty="0"/>
              <a:t> Page Details</a:t>
            </a:r>
          </a:p>
          <a:p>
            <a:pPr lvl="1"/>
            <a:r>
              <a:rPr lang="en-IN" dirty="0"/>
              <a:t>Databases Page</a:t>
            </a:r>
          </a:p>
          <a:p>
            <a:pPr lvl="1"/>
            <a:r>
              <a:rPr lang="en-IN" dirty="0"/>
              <a:t>Warehouses Page</a:t>
            </a:r>
          </a:p>
          <a:p>
            <a:pPr lvl="1"/>
            <a:r>
              <a:rPr lang="en-IN" dirty="0"/>
              <a:t>Worksheet Page</a:t>
            </a:r>
          </a:p>
          <a:p>
            <a:pPr lvl="1"/>
            <a:r>
              <a:rPr lang="en-IN" dirty="0"/>
              <a:t>History Page</a:t>
            </a:r>
          </a:p>
          <a:p>
            <a:pPr lvl="1"/>
            <a:r>
              <a:rPr lang="en-IN" dirty="0"/>
              <a:t>Help Menu</a:t>
            </a:r>
          </a:p>
          <a:p>
            <a:pPr lvl="1"/>
            <a:r>
              <a:rPr lang="en-IN" dirty="0"/>
              <a:t>User Preferences Menu</a:t>
            </a:r>
          </a:p>
          <a:p>
            <a:r>
              <a:rPr lang="en-IN" dirty="0"/>
              <a:t>Databases Page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8C2F1-406D-421D-96F9-AE8CED0F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276725"/>
            <a:ext cx="12020550" cy="258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68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IN" dirty="0"/>
              <a:t>Databases Page</a:t>
            </a:r>
          </a:p>
          <a:p>
            <a:pPr lvl="1"/>
            <a:r>
              <a:rPr lang="en-IN" dirty="0"/>
              <a:t>Shows information about the Databases that you have created or access to.</a:t>
            </a:r>
          </a:p>
          <a:p>
            <a:pPr lvl="1"/>
            <a:r>
              <a:rPr lang="en-IN" dirty="0"/>
              <a:t>You can create , clone ,transfer ownership or drop a database</a:t>
            </a:r>
          </a:p>
          <a:p>
            <a:pPr lvl="1"/>
            <a:r>
              <a:rPr lang="en-IN" dirty="0"/>
              <a:t>You can also access or navigate to the below objects in database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8FFB1-A2E0-4C2D-A79A-7E0FF7ABB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686050"/>
            <a:ext cx="103727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10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IN" dirty="0"/>
              <a:t>Warehouses Page</a:t>
            </a:r>
          </a:p>
          <a:p>
            <a:pPr lvl="1"/>
            <a:r>
              <a:rPr lang="en-IN" dirty="0"/>
              <a:t>You can view Virtual Warehouses that you have created or access to</a:t>
            </a:r>
          </a:p>
          <a:p>
            <a:pPr lvl="1"/>
            <a:r>
              <a:rPr lang="en-IN" dirty="0"/>
              <a:t>You can do the below actions in Warehouses Page</a:t>
            </a:r>
          </a:p>
          <a:p>
            <a:pPr lvl="2"/>
            <a:r>
              <a:rPr lang="en-US" dirty="0"/>
              <a:t>Create or drop a warehouse.</a:t>
            </a:r>
          </a:p>
          <a:p>
            <a:pPr lvl="2"/>
            <a:r>
              <a:rPr lang="en-US" dirty="0"/>
              <a:t>Suspend or resume a warehouse.</a:t>
            </a:r>
          </a:p>
          <a:p>
            <a:pPr lvl="2"/>
            <a:r>
              <a:rPr lang="en-US" dirty="0"/>
              <a:t>Configure a warehouse.</a:t>
            </a:r>
          </a:p>
          <a:p>
            <a:pPr lvl="2"/>
            <a:r>
              <a:rPr lang="en-US" dirty="0"/>
              <a:t>Transfer ownership of a warehouse to a different role.</a:t>
            </a:r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7C602-818F-4BFA-94F2-3443673E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3657600"/>
            <a:ext cx="11877675" cy="308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2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IN" dirty="0"/>
              <a:t>Worksheet Page</a:t>
            </a:r>
          </a:p>
          <a:p>
            <a:pPr lvl="1"/>
            <a:r>
              <a:rPr lang="en-IN" sz="1800" dirty="0"/>
              <a:t>This page helps us to run our SQLs, Create Procedures, Load Tables.</a:t>
            </a:r>
          </a:p>
          <a:p>
            <a:pPr lvl="1"/>
            <a:r>
              <a:rPr lang="en-IN" sz="1800" dirty="0"/>
              <a:t>We can create up to 16 Worksheets and each work sheet can connect to different database with different roles as well</a:t>
            </a:r>
          </a:p>
          <a:p>
            <a:pPr lvl="1"/>
            <a:r>
              <a:rPr lang="en-IN" sz="1800" dirty="0"/>
              <a:t>All the worksheets are saved by default and when you connect back the next time to Snowflake all the Worksheets are intact.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B504C-5698-4997-A96A-16F8EF480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457450"/>
            <a:ext cx="12087225" cy="453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21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005-5189-45BB-A7F4-857A44D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372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br>
              <a:rPr lang="en-US" sz="6000" b="1" dirty="0"/>
            </a:b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EEA8-1FF2-4B7F-BC81-B8A227DAA21D}"/>
              </a:ext>
            </a:extLst>
          </p:cNvPr>
          <p:cNvSpPr txBox="1"/>
          <p:nvPr/>
        </p:nvSpPr>
        <p:spPr>
          <a:xfrm>
            <a:off x="4797278" y="0"/>
            <a:ext cx="58992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Snowflake on GCP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07C95F-DD19-446F-83B3-BC8F82ABA6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Snowflake </a:t>
            </a:r>
            <a:r>
              <a:rPr lang="en-US" sz="6000" b="1" dirty="0" err="1"/>
              <a:t>WebUI</a:t>
            </a:r>
            <a:endParaRPr lang="en-US" sz="6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F3E398-3929-416D-89DC-F4A3A57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84885"/>
            <a:ext cx="12125325" cy="5873114"/>
          </a:xfrm>
        </p:spPr>
        <p:txBody>
          <a:bodyPr/>
          <a:lstStyle/>
          <a:p>
            <a:r>
              <a:rPr lang="en-IN" sz="3200" dirty="0"/>
              <a:t>Worksheet Page – Notes Details</a:t>
            </a:r>
          </a:p>
          <a:p>
            <a:pPr lvl="1"/>
            <a:r>
              <a:rPr lang="en-IN" sz="2800" dirty="0"/>
              <a:t>1 – Database Navigator</a:t>
            </a:r>
          </a:p>
          <a:p>
            <a:pPr lvl="1"/>
            <a:r>
              <a:rPr lang="en-IN" sz="2800" dirty="0"/>
              <a:t>2 – Create New Worksheet</a:t>
            </a:r>
          </a:p>
          <a:p>
            <a:pPr lvl="1"/>
            <a:r>
              <a:rPr lang="en-IN" sz="2800" dirty="0"/>
              <a:t>3 – Open Existing Worksheet</a:t>
            </a:r>
          </a:p>
          <a:p>
            <a:pPr lvl="1"/>
            <a:r>
              <a:rPr lang="en-IN" sz="2800" dirty="0"/>
              <a:t>4 – Context Sensitive Menu – Virtual Warehouse </a:t>
            </a:r>
          </a:p>
          <a:p>
            <a:pPr lvl="1"/>
            <a:r>
              <a:rPr lang="en-IN" sz="2800" dirty="0"/>
              <a:t>5 – Load a Script, Delete a Worksheet, Highlight Code</a:t>
            </a:r>
          </a:p>
          <a:p>
            <a:pPr lvl="1"/>
            <a:r>
              <a:rPr lang="en-IN" sz="2800" dirty="0"/>
              <a:t>6 – Queries or SQL text that can be executed or run</a:t>
            </a:r>
          </a:p>
          <a:p>
            <a:pPr lvl="1"/>
            <a:r>
              <a:rPr lang="en-IN" sz="2800" dirty="0"/>
              <a:t>7 – Download the SQL Query Result Set</a:t>
            </a:r>
          </a:p>
          <a:p>
            <a:pPr lvl="1"/>
            <a:r>
              <a:rPr lang="en-IN" sz="2800" dirty="0"/>
              <a:t>8 – Copy the SQL Query Result Set</a:t>
            </a:r>
          </a:p>
          <a:p>
            <a:pPr lvl="1"/>
            <a:r>
              <a:rPr lang="en-IN" sz="2800" dirty="0"/>
              <a:t>9 – Expand the columns with Result set</a:t>
            </a:r>
          </a:p>
          <a:p>
            <a:pPr lvl="1"/>
            <a:r>
              <a:rPr lang="en-IN" sz="2800" dirty="0"/>
              <a:t>10 – Select the columns in the History Details for viewing</a:t>
            </a:r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18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1737</Words>
  <Application>Microsoft Office PowerPoint</Application>
  <PresentationFormat>Widescreen</PresentationFormat>
  <Paragraphs>225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Times New Roman</vt:lpstr>
      <vt:lpstr>Office Theme</vt:lpstr>
      <vt:lpstr>      </vt:lpstr>
      <vt:lpstr>Snowflake  Architecture</vt:lpstr>
      <vt:lpstr>      </vt:lpstr>
      <vt:lpstr>Snowflake Hybrid Architecture</vt:lpstr>
      <vt:lpstr>      </vt:lpstr>
      <vt:lpstr>      </vt:lpstr>
      <vt:lpstr>      </vt:lpstr>
      <vt:lpstr>Virtual Warehouse Sizes</vt:lpstr>
      <vt:lpstr>      </vt:lpstr>
      <vt:lpstr>      </vt:lpstr>
      <vt:lpstr>      </vt:lpstr>
      <vt:lpstr>Snowflake Editions</vt:lpstr>
      <vt:lpstr>Snowflake Editions Comparison</vt:lpstr>
      <vt:lpstr>Snowflake Editions Comparison</vt:lpstr>
      <vt:lpstr>      </vt:lpstr>
      <vt:lpstr>      </vt:lpstr>
      <vt:lpstr>      </vt:lpstr>
      <vt:lpstr>      </vt:lpstr>
      <vt:lpstr>      </vt:lpstr>
      <vt:lpstr>      </vt:lpstr>
      <vt:lpstr>      </vt:lpstr>
      <vt:lpstr>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</dc:title>
  <dc:creator>Bandaru, Madhavi Latha</dc:creator>
  <cp:lastModifiedBy>Praval Modem</cp:lastModifiedBy>
  <cp:revision>48</cp:revision>
  <dcterms:created xsi:type="dcterms:W3CDTF">2020-05-16T11:26:17Z</dcterms:created>
  <dcterms:modified xsi:type="dcterms:W3CDTF">2020-09-05T03:47:18Z</dcterms:modified>
</cp:coreProperties>
</file>