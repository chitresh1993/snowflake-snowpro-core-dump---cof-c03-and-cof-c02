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3" r:id="rId2"/>
    <p:sldId id="316" r:id="rId3"/>
    <p:sldId id="304" r:id="rId4"/>
    <p:sldId id="305" r:id="rId5"/>
    <p:sldId id="306" r:id="rId6"/>
    <p:sldId id="308" r:id="rId7"/>
    <p:sldId id="307" r:id="rId8"/>
    <p:sldId id="309" r:id="rId9"/>
    <p:sldId id="310" r:id="rId10"/>
    <p:sldId id="311" r:id="rId11"/>
    <p:sldId id="312" r:id="rId12"/>
    <p:sldId id="313" r:id="rId13"/>
    <p:sldId id="314" r:id="rId14"/>
    <p:sldId id="31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13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DAFFD-4EC4-405B-B61C-412FA897C8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E8543F1-2225-45BD-B5DB-9E205172D8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8FB817-4376-4980-90CE-408AA4D6DCCD}"/>
              </a:ext>
            </a:extLst>
          </p:cNvPr>
          <p:cNvSpPr>
            <a:spLocks noGrp="1"/>
          </p:cNvSpPr>
          <p:nvPr>
            <p:ph type="dt" sz="half" idx="10"/>
          </p:nvPr>
        </p:nvSpPr>
        <p:spPr/>
        <p:txBody>
          <a:bodyPr/>
          <a:lstStyle/>
          <a:p>
            <a:fld id="{5A4B73E1-6F63-49F9-9B10-AD9A2DCC8C83}" type="datetimeFigureOut">
              <a:rPr lang="en-US" smtClean="0"/>
              <a:t>1/7/2021</a:t>
            </a:fld>
            <a:endParaRPr lang="en-US"/>
          </a:p>
        </p:txBody>
      </p:sp>
      <p:sp>
        <p:nvSpPr>
          <p:cNvPr id="5" name="Footer Placeholder 4">
            <a:extLst>
              <a:ext uri="{FF2B5EF4-FFF2-40B4-BE49-F238E27FC236}">
                <a16:creationId xmlns:a16="http://schemas.microsoft.com/office/drawing/2014/main" id="{4AD63532-63A5-4413-BDF5-40EDEE7ADF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CA0DF5-4B1F-406A-B64A-5749991E52D6}"/>
              </a:ext>
            </a:extLst>
          </p:cNvPr>
          <p:cNvSpPr>
            <a:spLocks noGrp="1"/>
          </p:cNvSpPr>
          <p:nvPr>
            <p:ph type="sldNum" sz="quarter" idx="12"/>
          </p:nvPr>
        </p:nvSpPr>
        <p:spPr/>
        <p:txBody>
          <a:bodyPr/>
          <a:lstStyle/>
          <a:p>
            <a:fld id="{9EC69988-E2FB-4B18-8986-94917A057B44}" type="slidenum">
              <a:rPr lang="en-US" smtClean="0"/>
              <a:t>‹#›</a:t>
            </a:fld>
            <a:endParaRPr lang="en-US"/>
          </a:p>
        </p:txBody>
      </p:sp>
    </p:spTree>
    <p:extLst>
      <p:ext uri="{BB962C8B-B14F-4D97-AF65-F5344CB8AC3E}">
        <p14:creationId xmlns:p14="http://schemas.microsoft.com/office/powerpoint/2010/main" val="2308486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936A9-5DF1-40BF-90C8-AEA0132F2C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2C59A2-C382-4B57-BC1B-8A6E7F2D662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38F8B7-CAE8-46F9-B69C-448413AC6328}"/>
              </a:ext>
            </a:extLst>
          </p:cNvPr>
          <p:cNvSpPr>
            <a:spLocks noGrp="1"/>
          </p:cNvSpPr>
          <p:nvPr>
            <p:ph type="dt" sz="half" idx="10"/>
          </p:nvPr>
        </p:nvSpPr>
        <p:spPr/>
        <p:txBody>
          <a:bodyPr/>
          <a:lstStyle/>
          <a:p>
            <a:fld id="{5A4B73E1-6F63-49F9-9B10-AD9A2DCC8C83}" type="datetimeFigureOut">
              <a:rPr lang="en-US" smtClean="0"/>
              <a:t>1/7/2021</a:t>
            </a:fld>
            <a:endParaRPr lang="en-US"/>
          </a:p>
        </p:txBody>
      </p:sp>
      <p:sp>
        <p:nvSpPr>
          <p:cNvPr id="5" name="Footer Placeholder 4">
            <a:extLst>
              <a:ext uri="{FF2B5EF4-FFF2-40B4-BE49-F238E27FC236}">
                <a16:creationId xmlns:a16="http://schemas.microsoft.com/office/drawing/2014/main" id="{A47810DE-6EF0-4167-8421-D939D96076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6504FB-6AC7-44AC-BC84-5F9B34BEB9C3}"/>
              </a:ext>
            </a:extLst>
          </p:cNvPr>
          <p:cNvSpPr>
            <a:spLocks noGrp="1"/>
          </p:cNvSpPr>
          <p:nvPr>
            <p:ph type="sldNum" sz="quarter" idx="12"/>
          </p:nvPr>
        </p:nvSpPr>
        <p:spPr/>
        <p:txBody>
          <a:bodyPr/>
          <a:lstStyle/>
          <a:p>
            <a:fld id="{9EC69988-E2FB-4B18-8986-94917A057B44}" type="slidenum">
              <a:rPr lang="en-US" smtClean="0"/>
              <a:t>‹#›</a:t>
            </a:fld>
            <a:endParaRPr lang="en-US"/>
          </a:p>
        </p:txBody>
      </p:sp>
    </p:spTree>
    <p:extLst>
      <p:ext uri="{BB962C8B-B14F-4D97-AF65-F5344CB8AC3E}">
        <p14:creationId xmlns:p14="http://schemas.microsoft.com/office/powerpoint/2010/main" val="3320530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79469-F869-4949-88BB-9174F27157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20E8F3-C637-4A85-A73D-D81A1FBB20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EA49E90-6D04-4AB2-A2C5-0B84ED7A3449}"/>
              </a:ext>
            </a:extLst>
          </p:cNvPr>
          <p:cNvSpPr>
            <a:spLocks noGrp="1"/>
          </p:cNvSpPr>
          <p:nvPr>
            <p:ph type="dt" sz="half" idx="10"/>
          </p:nvPr>
        </p:nvSpPr>
        <p:spPr/>
        <p:txBody>
          <a:bodyPr/>
          <a:lstStyle/>
          <a:p>
            <a:fld id="{5A4B73E1-6F63-49F9-9B10-AD9A2DCC8C83}" type="datetimeFigureOut">
              <a:rPr lang="en-US" smtClean="0"/>
              <a:t>1/7/2021</a:t>
            </a:fld>
            <a:endParaRPr lang="en-US"/>
          </a:p>
        </p:txBody>
      </p:sp>
      <p:sp>
        <p:nvSpPr>
          <p:cNvPr id="5" name="Footer Placeholder 4">
            <a:extLst>
              <a:ext uri="{FF2B5EF4-FFF2-40B4-BE49-F238E27FC236}">
                <a16:creationId xmlns:a16="http://schemas.microsoft.com/office/drawing/2014/main" id="{32B382FC-7C1E-4515-B44E-6BC671D0D2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9601C8-DF39-4524-BD9A-E0B1D4D7B6BE}"/>
              </a:ext>
            </a:extLst>
          </p:cNvPr>
          <p:cNvSpPr>
            <a:spLocks noGrp="1"/>
          </p:cNvSpPr>
          <p:nvPr>
            <p:ph type="sldNum" sz="quarter" idx="12"/>
          </p:nvPr>
        </p:nvSpPr>
        <p:spPr/>
        <p:txBody>
          <a:bodyPr/>
          <a:lstStyle/>
          <a:p>
            <a:fld id="{9EC69988-E2FB-4B18-8986-94917A057B44}" type="slidenum">
              <a:rPr lang="en-US" smtClean="0"/>
              <a:t>‹#›</a:t>
            </a:fld>
            <a:endParaRPr lang="en-US"/>
          </a:p>
        </p:txBody>
      </p:sp>
    </p:spTree>
    <p:extLst>
      <p:ext uri="{BB962C8B-B14F-4D97-AF65-F5344CB8AC3E}">
        <p14:creationId xmlns:p14="http://schemas.microsoft.com/office/powerpoint/2010/main" val="1487213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1477C-A815-478E-AFB5-9808E78DCC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8F4371-F1BF-4FEC-A5D7-AF4AF6B7DF6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C75E47-977E-4E8C-B6EF-CC599FF1E6A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9B002D-D489-462B-B57D-A9EF2A16E87B}"/>
              </a:ext>
            </a:extLst>
          </p:cNvPr>
          <p:cNvSpPr>
            <a:spLocks noGrp="1"/>
          </p:cNvSpPr>
          <p:nvPr>
            <p:ph type="dt" sz="half" idx="10"/>
          </p:nvPr>
        </p:nvSpPr>
        <p:spPr/>
        <p:txBody>
          <a:bodyPr/>
          <a:lstStyle/>
          <a:p>
            <a:fld id="{5A4B73E1-6F63-49F9-9B10-AD9A2DCC8C83}" type="datetimeFigureOut">
              <a:rPr lang="en-US" smtClean="0"/>
              <a:t>1/7/2021</a:t>
            </a:fld>
            <a:endParaRPr lang="en-US"/>
          </a:p>
        </p:txBody>
      </p:sp>
      <p:sp>
        <p:nvSpPr>
          <p:cNvPr id="6" name="Footer Placeholder 5">
            <a:extLst>
              <a:ext uri="{FF2B5EF4-FFF2-40B4-BE49-F238E27FC236}">
                <a16:creationId xmlns:a16="http://schemas.microsoft.com/office/drawing/2014/main" id="{05282EF2-EA14-41AB-B538-95E8C26C9D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6C5729-0732-4475-9084-20EB05BD9C5A}"/>
              </a:ext>
            </a:extLst>
          </p:cNvPr>
          <p:cNvSpPr>
            <a:spLocks noGrp="1"/>
          </p:cNvSpPr>
          <p:nvPr>
            <p:ph type="sldNum" sz="quarter" idx="12"/>
          </p:nvPr>
        </p:nvSpPr>
        <p:spPr/>
        <p:txBody>
          <a:bodyPr/>
          <a:lstStyle/>
          <a:p>
            <a:fld id="{9EC69988-E2FB-4B18-8986-94917A057B44}" type="slidenum">
              <a:rPr lang="en-US" smtClean="0"/>
              <a:t>‹#›</a:t>
            </a:fld>
            <a:endParaRPr lang="en-US"/>
          </a:p>
        </p:txBody>
      </p:sp>
    </p:spTree>
    <p:extLst>
      <p:ext uri="{BB962C8B-B14F-4D97-AF65-F5344CB8AC3E}">
        <p14:creationId xmlns:p14="http://schemas.microsoft.com/office/powerpoint/2010/main" val="1125580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8CFE0-4102-4927-AF4A-4E22FAEA51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4C4288-4A16-42F0-85E0-6697EA07FB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63A1CD0-6B2F-496C-9FD8-EF2D03B03F1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161409-14CE-4C23-8712-EB0AAB1E63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AF244B2-7F10-4EA8-8AAD-E3EDE5BFADA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7578AD-BA0F-4973-A876-165E9E6934F5}"/>
              </a:ext>
            </a:extLst>
          </p:cNvPr>
          <p:cNvSpPr>
            <a:spLocks noGrp="1"/>
          </p:cNvSpPr>
          <p:nvPr>
            <p:ph type="dt" sz="half" idx="10"/>
          </p:nvPr>
        </p:nvSpPr>
        <p:spPr/>
        <p:txBody>
          <a:bodyPr/>
          <a:lstStyle/>
          <a:p>
            <a:fld id="{5A4B73E1-6F63-49F9-9B10-AD9A2DCC8C83}" type="datetimeFigureOut">
              <a:rPr lang="en-US" smtClean="0"/>
              <a:t>1/7/2021</a:t>
            </a:fld>
            <a:endParaRPr lang="en-US"/>
          </a:p>
        </p:txBody>
      </p:sp>
      <p:sp>
        <p:nvSpPr>
          <p:cNvPr id="8" name="Footer Placeholder 7">
            <a:extLst>
              <a:ext uri="{FF2B5EF4-FFF2-40B4-BE49-F238E27FC236}">
                <a16:creationId xmlns:a16="http://schemas.microsoft.com/office/drawing/2014/main" id="{C601F9E7-552D-4B52-808B-358420AE55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4FF4B0-9AD6-4F61-B51A-39D334ED01F4}"/>
              </a:ext>
            </a:extLst>
          </p:cNvPr>
          <p:cNvSpPr>
            <a:spLocks noGrp="1"/>
          </p:cNvSpPr>
          <p:nvPr>
            <p:ph type="sldNum" sz="quarter" idx="12"/>
          </p:nvPr>
        </p:nvSpPr>
        <p:spPr/>
        <p:txBody>
          <a:bodyPr/>
          <a:lstStyle/>
          <a:p>
            <a:fld id="{9EC69988-E2FB-4B18-8986-94917A057B44}" type="slidenum">
              <a:rPr lang="en-US" smtClean="0"/>
              <a:t>‹#›</a:t>
            </a:fld>
            <a:endParaRPr lang="en-US"/>
          </a:p>
        </p:txBody>
      </p:sp>
    </p:spTree>
    <p:extLst>
      <p:ext uri="{BB962C8B-B14F-4D97-AF65-F5344CB8AC3E}">
        <p14:creationId xmlns:p14="http://schemas.microsoft.com/office/powerpoint/2010/main" val="915931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00273-4398-4BEC-8A70-74513630A6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7D099F-71BC-43BF-90FB-32D010CF0A4C}"/>
              </a:ext>
            </a:extLst>
          </p:cNvPr>
          <p:cNvSpPr>
            <a:spLocks noGrp="1"/>
          </p:cNvSpPr>
          <p:nvPr>
            <p:ph type="dt" sz="half" idx="10"/>
          </p:nvPr>
        </p:nvSpPr>
        <p:spPr/>
        <p:txBody>
          <a:bodyPr/>
          <a:lstStyle/>
          <a:p>
            <a:fld id="{5A4B73E1-6F63-49F9-9B10-AD9A2DCC8C83}" type="datetimeFigureOut">
              <a:rPr lang="en-US" smtClean="0"/>
              <a:t>1/7/2021</a:t>
            </a:fld>
            <a:endParaRPr lang="en-US"/>
          </a:p>
        </p:txBody>
      </p:sp>
      <p:sp>
        <p:nvSpPr>
          <p:cNvPr id="4" name="Footer Placeholder 3">
            <a:extLst>
              <a:ext uri="{FF2B5EF4-FFF2-40B4-BE49-F238E27FC236}">
                <a16:creationId xmlns:a16="http://schemas.microsoft.com/office/drawing/2014/main" id="{7E7B65C4-902A-4D38-AE2E-B0AF7B307E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41C42D-D72C-4F33-9514-EE436BCF6A93}"/>
              </a:ext>
            </a:extLst>
          </p:cNvPr>
          <p:cNvSpPr>
            <a:spLocks noGrp="1"/>
          </p:cNvSpPr>
          <p:nvPr>
            <p:ph type="sldNum" sz="quarter" idx="12"/>
          </p:nvPr>
        </p:nvSpPr>
        <p:spPr/>
        <p:txBody>
          <a:bodyPr/>
          <a:lstStyle/>
          <a:p>
            <a:fld id="{9EC69988-E2FB-4B18-8986-94917A057B44}" type="slidenum">
              <a:rPr lang="en-US" smtClean="0"/>
              <a:t>‹#›</a:t>
            </a:fld>
            <a:endParaRPr lang="en-US"/>
          </a:p>
        </p:txBody>
      </p:sp>
    </p:spTree>
    <p:extLst>
      <p:ext uri="{BB962C8B-B14F-4D97-AF65-F5344CB8AC3E}">
        <p14:creationId xmlns:p14="http://schemas.microsoft.com/office/powerpoint/2010/main" val="1060563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F39E28-B79A-4D25-8DA3-0FC43728953F}"/>
              </a:ext>
            </a:extLst>
          </p:cNvPr>
          <p:cNvSpPr>
            <a:spLocks noGrp="1"/>
          </p:cNvSpPr>
          <p:nvPr>
            <p:ph type="dt" sz="half" idx="10"/>
          </p:nvPr>
        </p:nvSpPr>
        <p:spPr/>
        <p:txBody>
          <a:bodyPr/>
          <a:lstStyle/>
          <a:p>
            <a:fld id="{5A4B73E1-6F63-49F9-9B10-AD9A2DCC8C83}" type="datetimeFigureOut">
              <a:rPr lang="en-US" smtClean="0"/>
              <a:t>1/7/2021</a:t>
            </a:fld>
            <a:endParaRPr lang="en-US"/>
          </a:p>
        </p:txBody>
      </p:sp>
      <p:sp>
        <p:nvSpPr>
          <p:cNvPr id="3" name="Footer Placeholder 2">
            <a:extLst>
              <a:ext uri="{FF2B5EF4-FFF2-40B4-BE49-F238E27FC236}">
                <a16:creationId xmlns:a16="http://schemas.microsoft.com/office/drawing/2014/main" id="{A015BB03-7BDD-43BF-BF64-2DD6756D4A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839BA8-0BAD-49FA-A6AE-2BA85E097B54}"/>
              </a:ext>
            </a:extLst>
          </p:cNvPr>
          <p:cNvSpPr>
            <a:spLocks noGrp="1"/>
          </p:cNvSpPr>
          <p:nvPr>
            <p:ph type="sldNum" sz="quarter" idx="12"/>
          </p:nvPr>
        </p:nvSpPr>
        <p:spPr/>
        <p:txBody>
          <a:bodyPr/>
          <a:lstStyle/>
          <a:p>
            <a:fld id="{9EC69988-E2FB-4B18-8986-94917A057B44}" type="slidenum">
              <a:rPr lang="en-US" smtClean="0"/>
              <a:t>‹#›</a:t>
            </a:fld>
            <a:endParaRPr lang="en-US"/>
          </a:p>
        </p:txBody>
      </p:sp>
    </p:spTree>
    <p:extLst>
      <p:ext uri="{BB962C8B-B14F-4D97-AF65-F5344CB8AC3E}">
        <p14:creationId xmlns:p14="http://schemas.microsoft.com/office/powerpoint/2010/main" val="3021734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05DB5-5197-4105-8E5C-86C3D1AEB5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F49756-46E5-443E-A356-9444905D3F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316607-DB34-4483-8B7A-5D258B28D5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3C5C09A-BCA3-40E9-8DAD-4AF8F0A8655F}"/>
              </a:ext>
            </a:extLst>
          </p:cNvPr>
          <p:cNvSpPr>
            <a:spLocks noGrp="1"/>
          </p:cNvSpPr>
          <p:nvPr>
            <p:ph type="dt" sz="half" idx="10"/>
          </p:nvPr>
        </p:nvSpPr>
        <p:spPr/>
        <p:txBody>
          <a:bodyPr/>
          <a:lstStyle/>
          <a:p>
            <a:fld id="{5A4B73E1-6F63-49F9-9B10-AD9A2DCC8C83}" type="datetimeFigureOut">
              <a:rPr lang="en-US" smtClean="0"/>
              <a:t>1/7/2021</a:t>
            </a:fld>
            <a:endParaRPr lang="en-US"/>
          </a:p>
        </p:txBody>
      </p:sp>
      <p:sp>
        <p:nvSpPr>
          <p:cNvPr id="6" name="Footer Placeholder 5">
            <a:extLst>
              <a:ext uri="{FF2B5EF4-FFF2-40B4-BE49-F238E27FC236}">
                <a16:creationId xmlns:a16="http://schemas.microsoft.com/office/drawing/2014/main" id="{BA96C3C3-2601-47B5-86C2-37B0BD5CEC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F1EB6C-0953-4F43-9F64-A5267B1CCA47}"/>
              </a:ext>
            </a:extLst>
          </p:cNvPr>
          <p:cNvSpPr>
            <a:spLocks noGrp="1"/>
          </p:cNvSpPr>
          <p:nvPr>
            <p:ph type="sldNum" sz="quarter" idx="12"/>
          </p:nvPr>
        </p:nvSpPr>
        <p:spPr/>
        <p:txBody>
          <a:bodyPr/>
          <a:lstStyle/>
          <a:p>
            <a:fld id="{9EC69988-E2FB-4B18-8986-94917A057B44}" type="slidenum">
              <a:rPr lang="en-US" smtClean="0"/>
              <a:t>‹#›</a:t>
            </a:fld>
            <a:endParaRPr lang="en-US"/>
          </a:p>
        </p:txBody>
      </p:sp>
    </p:spTree>
    <p:extLst>
      <p:ext uri="{BB962C8B-B14F-4D97-AF65-F5344CB8AC3E}">
        <p14:creationId xmlns:p14="http://schemas.microsoft.com/office/powerpoint/2010/main" val="26106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DE841-E11B-4322-8ABE-06185CE5A2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0450E47-5194-456F-B7D0-55DF8175BC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339F0A-B98E-4797-B841-4BCB15E599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785E31E-97DC-4F39-80D8-26B02AA8D9BD}"/>
              </a:ext>
            </a:extLst>
          </p:cNvPr>
          <p:cNvSpPr>
            <a:spLocks noGrp="1"/>
          </p:cNvSpPr>
          <p:nvPr>
            <p:ph type="dt" sz="half" idx="10"/>
          </p:nvPr>
        </p:nvSpPr>
        <p:spPr/>
        <p:txBody>
          <a:bodyPr/>
          <a:lstStyle/>
          <a:p>
            <a:fld id="{5A4B73E1-6F63-49F9-9B10-AD9A2DCC8C83}" type="datetimeFigureOut">
              <a:rPr lang="en-US" smtClean="0"/>
              <a:t>1/7/2021</a:t>
            </a:fld>
            <a:endParaRPr lang="en-US"/>
          </a:p>
        </p:txBody>
      </p:sp>
      <p:sp>
        <p:nvSpPr>
          <p:cNvPr id="6" name="Footer Placeholder 5">
            <a:extLst>
              <a:ext uri="{FF2B5EF4-FFF2-40B4-BE49-F238E27FC236}">
                <a16:creationId xmlns:a16="http://schemas.microsoft.com/office/drawing/2014/main" id="{258E2ADA-5BF8-4B01-A91E-86807E7558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12A749-64CD-4CA6-8F5C-A909C189D208}"/>
              </a:ext>
            </a:extLst>
          </p:cNvPr>
          <p:cNvSpPr>
            <a:spLocks noGrp="1"/>
          </p:cNvSpPr>
          <p:nvPr>
            <p:ph type="sldNum" sz="quarter" idx="12"/>
          </p:nvPr>
        </p:nvSpPr>
        <p:spPr/>
        <p:txBody>
          <a:bodyPr/>
          <a:lstStyle/>
          <a:p>
            <a:fld id="{9EC69988-E2FB-4B18-8986-94917A057B44}" type="slidenum">
              <a:rPr lang="en-US" smtClean="0"/>
              <a:t>‹#›</a:t>
            </a:fld>
            <a:endParaRPr lang="en-US"/>
          </a:p>
        </p:txBody>
      </p:sp>
    </p:spTree>
    <p:extLst>
      <p:ext uri="{BB962C8B-B14F-4D97-AF65-F5344CB8AC3E}">
        <p14:creationId xmlns:p14="http://schemas.microsoft.com/office/powerpoint/2010/main" val="2373946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F945E-2969-4895-8F47-5534F6A4E67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C9C23E3-9D8C-46E9-BFD1-8586324C351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676FFC-5B01-4369-B17B-9B170AD27583}"/>
              </a:ext>
            </a:extLst>
          </p:cNvPr>
          <p:cNvSpPr>
            <a:spLocks noGrp="1"/>
          </p:cNvSpPr>
          <p:nvPr>
            <p:ph type="dt" sz="half" idx="10"/>
          </p:nvPr>
        </p:nvSpPr>
        <p:spPr/>
        <p:txBody>
          <a:bodyPr/>
          <a:lstStyle/>
          <a:p>
            <a:fld id="{5A4B73E1-6F63-49F9-9B10-AD9A2DCC8C83}" type="datetimeFigureOut">
              <a:rPr lang="en-US" smtClean="0"/>
              <a:t>1/7/2021</a:t>
            </a:fld>
            <a:endParaRPr lang="en-US"/>
          </a:p>
        </p:txBody>
      </p:sp>
      <p:sp>
        <p:nvSpPr>
          <p:cNvPr id="5" name="Footer Placeholder 4">
            <a:extLst>
              <a:ext uri="{FF2B5EF4-FFF2-40B4-BE49-F238E27FC236}">
                <a16:creationId xmlns:a16="http://schemas.microsoft.com/office/drawing/2014/main" id="{B1764B3C-D988-4B67-8173-69A5C5152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5EC66B-09F7-48E5-A7E8-4E08C8B73BFA}"/>
              </a:ext>
            </a:extLst>
          </p:cNvPr>
          <p:cNvSpPr>
            <a:spLocks noGrp="1"/>
          </p:cNvSpPr>
          <p:nvPr>
            <p:ph type="sldNum" sz="quarter" idx="12"/>
          </p:nvPr>
        </p:nvSpPr>
        <p:spPr/>
        <p:txBody>
          <a:bodyPr/>
          <a:lstStyle/>
          <a:p>
            <a:fld id="{9EC69988-E2FB-4B18-8986-94917A057B44}" type="slidenum">
              <a:rPr lang="en-US" smtClean="0"/>
              <a:t>‹#›</a:t>
            </a:fld>
            <a:endParaRPr lang="en-US"/>
          </a:p>
        </p:txBody>
      </p:sp>
    </p:spTree>
    <p:extLst>
      <p:ext uri="{BB962C8B-B14F-4D97-AF65-F5344CB8AC3E}">
        <p14:creationId xmlns:p14="http://schemas.microsoft.com/office/powerpoint/2010/main" val="4102540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2D4C88-2C2A-4F61-B5D7-539912E33A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49A929-2E68-4B5A-8770-DFF384A4B1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BCC410-4045-4B3C-B2DD-37EE35DE529D}"/>
              </a:ext>
            </a:extLst>
          </p:cNvPr>
          <p:cNvSpPr>
            <a:spLocks noGrp="1"/>
          </p:cNvSpPr>
          <p:nvPr>
            <p:ph type="dt" sz="half" idx="10"/>
          </p:nvPr>
        </p:nvSpPr>
        <p:spPr/>
        <p:txBody>
          <a:bodyPr/>
          <a:lstStyle/>
          <a:p>
            <a:fld id="{5A4B73E1-6F63-49F9-9B10-AD9A2DCC8C83}" type="datetimeFigureOut">
              <a:rPr lang="en-US" smtClean="0"/>
              <a:t>1/7/2021</a:t>
            </a:fld>
            <a:endParaRPr lang="en-US"/>
          </a:p>
        </p:txBody>
      </p:sp>
      <p:sp>
        <p:nvSpPr>
          <p:cNvPr id="5" name="Footer Placeholder 4">
            <a:extLst>
              <a:ext uri="{FF2B5EF4-FFF2-40B4-BE49-F238E27FC236}">
                <a16:creationId xmlns:a16="http://schemas.microsoft.com/office/drawing/2014/main" id="{B59ECAA1-C46F-4AA1-B6B9-87327E5F00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031DA0-5BBD-4177-9C55-16057D0E0BA6}"/>
              </a:ext>
            </a:extLst>
          </p:cNvPr>
          <p:cNvSpPr>
            <a:spLocks noGrp="1"/>
          </p:cNvSpPr>
          <p:nvPr>
            <p:ph type="sldNum" sz="quarter" idx="12"/>
          </p:nvPr>
        </p:nvSpPr>
        <p:spPr/>
        <p:txBody>
          <a:bodyPr/>
          <a:lstStyle/>
          <a:p>
            <a:fld id="{9EC69988-E2FB-4B18-8986-94917A057B44}" type="slidenum">
              <a:rPr lang="en-US" smtClean="0"/>
              <a:t>‹#›</a:t>
            </a:fld>
            <a:endParaRPr lang="en-US"/>
          </a:p>
        </p:txBody>
      </p:sp>
    </p:spTree>
    <p:extLst>
      <p:ext uri="{BB962C8B-B14F-4D97-AF65-F5344CB8AC3E}">
        <p14:creationId xmlns:p14="http://schemas.microsoft.com/office/powerpoint/2010/main" val="815994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672B53-8B6C-4171-A080-AE3CA1E6DC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D7282A-7584-4CAA-9C80-EB2F160D07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32F2F4-2609-492D-92A1-0DE4595A6B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4B73E1-6F63-49F9-9B10-AD9A2DCC8C83}" type="datetimeFigureOut">
              <a:rPr lang="en-US" smtClean="0"/>
              <a:t>1/7/2021</a:t>
            </a:fld>
            <a:endParaRPr lang="en-US"/>
          </a:p>
        </p:txBody>
      </p:sp>
      <p:sp>
        <p:nvSpPr>
          <p:cNvPr id="5" name="Footer Placeholder 4">
            <a:extLst>
              <a:ext uri="{FF2B5EF4-FFF2-40B4-BE49-F238E27FC236}">
                <a16:creationId xmlns:a16="http://schemas.microsoft.com/office/drawing/2014/main" id="{41DB1441-A814-4067-B137-46E3C9432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76C5A18-C5D7-4A6A-81C1-33C7DAAD31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C69988-E2FB-4B18-8986-94917A057B44}" type="slidenum">
              <a:rPr lang="en-US" smtClean="0"/>
              <a:t>‹#›</a:t>
            </a:fld>
            <a:endParaRPr lang="en-US"/>
          </a:p>
        </p:txBody>
      </p:sp>
    </p:spTree>
    <p:extLst>
      <p:ext uri="{BB962C8B-B14F-4D97-AF65-F5344CB8AC3E}">
        <p14:creationId xmlns:p14="http://schemas.microsoft.com/office/powerpoint/2010/main" val="2029166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cs.snowflake.com/en/sql-reference/sql/begin.html" TargetMode="External"/><Relationship Id="rId2" Type="http://schemas.openxmlformats.org/officeDocument/2006/relationships/hyperlink" Target="https://docs.snowflake.com/en/sql-reference/functions/system_stream_get_table_timestamp.html" TargetMode="External"/><Relationship Id="rId1" Type="http://schemas.openxmlformats.org/officeDocument/2006/relationships/slideLayout" Target="../slideLayouts/slideLayout2.xml"/><Relationship Id="rId4" Type="http://schemas.openxmlformats.org/officeDocument/2006/relationships/hyperlink" Target="https://docs.snowflake.com/en/sql-reference/sql/commit.html"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Data Pipelines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7"/>
            <a:ext cx="12192000" cy="5873261"/>
          </a:xfrm>
        </p:spPr>
        <p:txBody>
          <a:bodyPr>
            <a:normAutofit lnSpcReduction="10000"/>
          </a:bodyPr>
          <a:lstStyle/>
          <a:p>
            <a:r>
              <a:rPr lang="en-US" dirty="0"/>
              <a:t>Continuous Data Loading  - Snow Pipe</a:t>
            </a:r>
          </a:p>
          <a:p>
            <a:r>
              <a:rPr lang="en-US" dirty="0"/>
              <a:t>Data Tracking  - Slowly Changing Dimension (SCD) – Change Data Tracking -- Streams</a:t>
            </a:r>
          </a:p>
          <a:p>
            <a:pPr lvl="1"/>
            <a:r>
              <a:rPr lang="en-US" dirty="0"/>
              <a:t>Stream object records the delta of change data capture (CDC) information for a table</a:t>
            </a:r>
          </a:p>
          <a:p>
            <a:pPr lvl="1"/>
            <a:r>
              <a:rPr lang="en-US" dirty="0"/>
              <a:t>All DMLs are Tracked using Streams</a:t>
            </a:r>
          </a:p>
          <a:p>
            <a:pPr lvl="1"/>
            <a:r>
              <a:rPr lang="en-US" dirty="0"/>
              <a:t>A stream allows querying and consuming a set to a table, at the row level, between two transactional points of time of changes </a:t>
            </a:r>
          </a:p>
          <a:p>
            <a:r>
              <a:rPr lang="en-US" dirty="0"/>
              <a:t>Tasks  - Recurring</a:t>
            </a:r>
          </a:p>
          <a:p>
            <a:pPr lvl="1"/>
            <a:r>
              <a:rPr lang="en-US" dirty="0"/>
              <a:t>Task object defines a recurring schedule for executing a SQL statement, including statements that call stored procedures</a:t>
            </a:r>
          </a:p>
          <a:p>
            <a:pPr lvl="1"/>
            <a:r>
              <a:rPr lang="en-US" dirty="0"/>
              <a:t>Tasks may be used table streams to provide a convenient way to continuously process table DML delta</a:t>
            </a:r>
          </a:p>
          <a:p>
            <a:pPr lvl="1"/>
            <a:r>
              <a:rPr lang="en-US" dirty="0"/>
              <a:t>If a Task is setup on a Table for scheduled to run, it can verify whether a stream contains change data for a table (using SYSTEM$STREAM_HAS_DATA) and either consume the change data or skip the current run if no change data exists.</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12470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Data Pipelines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7"/>
            <a:ext cx="12192000" cy="5873261"/>
          </a:xfrm>
        </p:spPr>
        <p:txBody>
          <a:bodyPr>
            <a:normAutofit lnSpcReduction="10000"/>
          </a:bodyPr>
          <a:lstStyle/>
          <a:p>
            <a:r>
              <a:rPr lang="en-US" b="1" dirty="0"/>
              <a:t>What are the types of SCD?</a:t>
            </a:r>
          </a:p>
          <a:p>
            <a:pPr lvl="1"/>
            <a:r>
              <a:rPr lang="en-US" dirty="0"/>
              <a:t>Type 0 – Fixed Dimension</a:t>
            </a:r>
          </a:p>
          <a:p>
            <a:pPr lvl="2"/>
            <a:r>
              <a:rPr lang="en-US" dirty="0"/>
              <a:t>No changes allowed, dimension never changes</a:t>
            </a:r>
          </a:p>
          <a:p>
            <a:pPr lvl="1"/>
            <a:r>
              <a:rPr lang="en-US" dirty="0"/>
              <a:t>Type 1 – No History</a:t>
            </a:r>
          </a:p>
          <a:p>
            <a:pPr lvl="2"/>
            <a:r>
              <a:rPr lang="en-US" dirty="0"/>
              <a:t>Update record directly, there is no record of historical values, only current state</a:t>
            </a:r>
          </a:p>
          <a:p>
            <a:pPr lvl="1"/>
            <a:r>
              <a:rPr lang="en-US" dirty="0"/>
              <a:t>Type 2 – Row Versioning</a:t>
            </a:r>
          </a:p>
          <a:p>
            <a:pPr lvl="2"/>
            <a:r>
              <a:rPr lang="en-US" dirty="0"/>
              <a:t>Track changes as version records with current flag &amp; active dates and other metadata</a:t>
            </a:r>
          </a:p>
          <a:p>
            <a:pPr lvl="1"/>
            <a:r>
              <a:rPr lang="en-US" dirty="0"/>
              <a:t>Type 3 – Previous Value column</a:t>
            </a:r>
          </a:p>
          <a:p>
            <a:pPr lvl="2"/>
            <a:r>
              <a:rPr lang="en-US" dirty="0"/>
              <a:t>Track change to a specific attribute, add a column to show the previous value, which is updated as further changes occur</a:t>
            </a:r>
          </a:p>
          <a:p>
            <a:pPr lvl="1"/>
            <a:r>
              <a:rPr lang="en-US" dirty="0"/>
              <a:t>Type 4 – History Table</a:t>
            </a:r>
          </a:p>
          <a:p>
            <a:pPr lvl="2"/>
            <a:r>
              <a:rPr lang="en-US" dirty="0"/>
              <a:t>Show current value in dimension table but track all changes in separate table</a:t>
            </a:r>
          </a:p>
          <a:p>
            <a:pPr lvl="1"/>
            <a:r>
              <a:rPr lang="en-US" dirty="0"/>
              <a:t>Type 6 – Hybrid SCD</a:t>
            </a:r>
          </a:p>
          <a:p>
            <a:pPr lvl="2"/>
            <a:r>
              <a:rPr lang="en-US" dirty="0"/>
              <a:t>Utilize techniques from SCD Types 1, 2 and 3 to track change</a:t>
            </a:r>
          </a:p>
          <a:p>
            <a:pPr marL="0" indent="0">
              <a:buNone/>
            </a:pPr>
            <a:br>
              <a:rPr lang="en-US" dirty="0"/>
            </a:br>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7413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Data Pipelines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7"/>
            <a:ext cx="12192000" cy="6145823"/>
          </a:xfrm>
        </p:spPr>
        <p:txBody>
          <a:bodyPr>
            <a:normAutofit fontScale="85000" lnSpcReduction="20000"/>
          </a:bodyPr>
          <a:lstStyle/>
          <a:p>
            <a:r>
              <a:rPr lang="en-US" dirty="0"/>
              <a:t>Continuous Data Loading  - Workflow</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r>
              <a:rPr lang="en-US" sz="2200" dirty="0"/>
              <a:t>Snowpipe Continuously loads micro-batches of data from an external stage location (i.e. AWS S3, Google Cloud Storage, or Microsoft Azure) into a staging table.</a:t>
            </a:r>
          </a:p>
          <a:p>
            <a:r>
              <a:rPr lang="en-US" sz="2200" dirty="0"/>
              <a:t>One or more stream objects capture change data and make it available to query.</a:t>
            </a:r>
          </a:p>
          <a:p>
            <a:r>
              <a:rPr lang="en-US" sz="2200" dirty="0"/>
              <a:t>One or more tasks execute SQL statements (which could call stored procedures) to transform the change data and move the optimized data sets into destination tables for analysis. Each time this transformation process runs, it selects the change data in the stream to perform DML operations on the destination tables and then consumes the change data when the transaction is committed.</a:t>
            </a:r>
          </a:p>
          <a:p>
            <a:endParaRPr lang="en-US" dirty="0"/>
          </a:p>
          <a:p>
            <a:endParaRPr lang="en-US" dirty="0"/>
          </a:p>
          <a:p>
            <a:endParaRPr lang="en-US" dirty="0"/>
          </a:p>
          <a:p>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30" name="Picture 6" descr="Continuous data pipeline flow">
            <a:extLst>
              <a:ext uri="{FF2B5EF4-FFF2-40B4-BE49-F238E27FC236}">
                <a16:creationId xmlns:a16="http://schemas.microsoft.com/office/drawing/2014/main" id="{98F2E8CA-C9F2-4F5E-9713-520D3ECF7D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29053"/>
            <a:ext cx="12192000" cy="3897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7932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Data Pipe Lines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8"/>
            <a:ext cx="12068175" cy="6145822"/>
          </a:xfrm>
        </p:spPr>
        <p:txBody>
          <a:bodyPr>
            <a:normAutofit/>
          </a:bodyPr>
          <a:lstStyle/>
          <a:p>
            <a:r>
              <a:rPr lang="en-US" dirty="0"/>
              <a:t>Streams</a:t>
            </a:r>
          </a:p>
          <a:p>
            <a:pPr lvl="1"/>
            <a:r>
              <a:rPr lang="en-US" sz="2000" dirty="0"/>
              <a:t>Stream logically takes an initial snapshot of every row in the source table by initializing a point in time (offset) as the current transactional version of the table</a:t>
            </a:r>
          </a:p>
          <a:p>
            <a:pPr lvl="1"/>
            <a:r>
              <a:rPr lang="en-US" sz="2000" dirty="0"/>
              <a:t>Stream itself does not contain any table data. A stream only stores the offset for the source table and returns CDC  (Change Data Capture) records by leveraging the versioning history for the source table</a:t>
            </a:r>
          </a:p>
          <a:p>
            <a:pPr lvl="1"/>
            <a:r>
              <a:rPr lang="en-US" sz="2000" b="1" dirty="0"/>
              <a:t>Table Versioning – </a:t>
            </a:r>
          </a:p>
          <a:p>
            <a:pPr lvl="1"/>
            <a:r>
              <a:rPr lang="en-US" sz="2000" dirty="0"/>
              <a:t>A stream maintains a point of time into the transactional versioned timeline of the source table, called an </a:t>
            </a:r>
            <a:r>
              <a:rPr lang="en-US" sz="2000" i="1" dirty="0"/>
              <a:t>offset</a:t>
            </a:r>
            <a:r>
              <a:rPr lang="en-US" sz="2000" dirty="0"/>
              <a:t>, which starts at the transactional point when the stream contents were last consumed using a DML statement</a:t>
            </a:r>
          </a:p>
          <a:p>
            <a:pPr lvl="1"/>
            <a:r>
              <a:rPr lang="en-US" sz="2000" dirty="0"/>
              <a:t>The stream maintains only the delta of the changes; if multiple DML statements change a row, the stream contains only the latest action taken on that row</a:t>
            </a:r>
          </a:p>
          <a:p>
            <a:pPr lvl="1"/>
            <a:r>
              <a:rPr lang="en-US" sz="2000" b="1" dirty="0"/>
              <a:t>Repeatable Read Isolation – </a:t>
            </a:r>
          </a:p>
          <a:p>
            <a:pPr lvl="1"/>
            <a:r>
              <a:rPr lang="en-US" sz="2000" dirty="0"/>
              <a:t> Multiple SQL statements within a transaction see the same set of records in a stream. This differs from the read committed mode supported for tables</a:t>
            </a:r>
          </a:p>
          <a:p>
            <a:pPr lvl="1"/>
            <a:r>
              <a:rPr lang="en-US" sz="2000" dirty="0"/>
              <a:t>Depends on AUTO COMMIT Parameter</a:t>
            </a:r>
          </a:p>
          <a:p>
            <a:pPr lvl="1"/>
            <a:endParaRPr lang="en-US" sz="2000" dirty="0"/>
          </a:p>
          <a:p>
            <a:endParaRPr lang="en-US" dirty="0"/>
          </a:p>
          <a:p>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12482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Data Pipe Lines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8"/>
            <a:ext cx="12068175" cy="6145822"/>
          </a:xfrm>
        </p:spPr>
        <p:txBody>
          <a:bodyPr>
            <a:normAutofit lnSpcReduction="10000"/>
          </a:bodyPr>
          <a:lstStyle/>
          <a:p>
            <a:r>
              <a:rPr lang="en-US" dirty="0"/>
              <a:t>Streams</a:t>
            </a:r>
          </a:p>
          <a:p>
            <a:pPr lvl="1"/>
            <a:r>
              <a:rPr lang="en-US" sz="2000" dirty="0"/>
              <a:t>This differs from the read committed mode supported for tables, in which statements see any changes made by previous statements executed within the same transaction, even though those changes are not yet committed. </a:t>
            </a:r>
          </a:p>
          <a:p>
            <a:pPr lvl="1"/>
            <a:r>
              <a:rPr lang="en-US" sz="2000" dirty="0"/>
              <a:t>The current offset for a stream can be determined by querying the </a:t>
            </a:r>
            <a:r>
              <a:rPr lang="en-US" sz="2000" dirty="0">
                <a:hlinkClick r:id="rId2"/>
              </a:rPr>
              <a:t>SYSTEM$STREAM_GET_TABLE_TIMESTAMP</a:t>
            </a:r>
            <a:r>
              <a:rPr lang="en-US" sz="2000" dirty="0"/>
              <a:t> function.</a:t>
            </a:r>
          </a:p>
          <a:p>
            <a:pPr lvl="1"/>
            <a:r>
              <a:rPr lang="en-US" sz="2000" dirty="0"/>
              <a:t>A DML statement that selects from a stream consumes all of the change data in the stream as long as the transaction commits successfully. </a:t>
            </a:r>
          </a:p>
          <a:p>
            <a:pPr lvl="1"/>
            <a:r>
              <a:rPr lang="en-US" sz="2000" dirty="0"/>
              <a:t>To ensure multiple statements access the same change records in the stream, surround them with an explicit transaction statement (</a:t>
            </a:r>
            <a:r>
              <a:rPr lang="en-US" sz="2000" dirty="0">
                <a:hlinkClick r:id="rId3"/>
              </a:rPr>
              <a:t>BEGIN</a:t>
            </a:r>
            <a:r>
              <a:rPr lang="en-US" sz="2000" dirty="0"/>
              <a:t> .. </a:t>
            </a:r>
            <a:r>
              <a:rPr lang="en-US" sz="2000" dirty="0">
                <a:hlinkClick r:id="rId4"/>
              </a:rPr>
              <a:t>COMMIT</a:t>
            </a:r>
            <a:r>
              <a:rPr lang="en-US" sz="2000" dirty="0"/>
              <a:t>) which locks the stream</a:t>
            </a:r>
          </a:p>
          <a:p>
            <a:pPr lvl="1"/>
            <a:r>
              <a:rPr lang="en-US" sz="2000" dirty="0"/>
              <a:t>DML updates to the source table in parallel transactions are tracked by the change tracking system but do not update the stream until the explicit transaction statement is committed and the existing change data is consumed</a:t>
            </a:r>
          </a:p>
          <a:p>
            <a:r>
              <a:rPr lang="en-US" sz="2400" b="1" dirty="0"/>
              <a:t>Stream Columns – </a:t>
            </a:r>
          </a:p>
          <a:p>
            <a:pPr lvl="1"/>
            <a:r>
              <a:rPr lang="en-US" sz="1800" dirty="0"/>
              <a:t>METADATA$ACTION</a:t>
            </a:r>
          </a:p>
          <a:p>
            <a:pPr lvl="1"/>
            <a:r>
              <a:rPr lang="en-US" sz="1800" dirty="0"/>
              <a:t>METADATA$ISUPDATE</a:t>
            </a:r>
          </a:p>
          <a:p>
            <a:pPr lvl="1"/>
            <a:r>
              <a:rPr lang="en-US" sz="1800" dirty="0"/>
              <a:t>METADATA$ROW_ID</a:t>
            </a:r>
          </a:p>
          <a:p>
            <a:r>
              <a:rPr lang="en-US" dirty="0"/>
              <a:t>Data Retention Period and Staleness</a:t>
            </a:r>
          </a:p>
          <a:p>
            <a:pPr lvl="1"/>
            <a:r>
              <a:rPr lang="en-US" sz="2000" dirty="0"/>
              <a:t>If a stream is created on a table, the data retention period is 14 days </a:t>
            </a:r>
          </a:p>
          <a:p>
            <a:pPr lvl="1"/>
            <a:r>
              <a:rPr lang="en-US" sz="2000" dirty="0"/>
              <a:t>Additional Storage Charges are applied</a:t>
            </a:r>
          </a:p>
          <a:p>
            <a:endParaRPr lang="en-US" dirty="0"/>
          </a:p>
          <a:p>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60566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a:t>Snowflake – Data Pipe Lines</a:t>
            </a:r>
            <a:endParaRPr lang="en-US" sz="6000" b="1" dirty="0"/>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8"/>
            <a:ext cx="12068175" cy="6145822"/>
          </a:xfrm>
        </p:spPr>
        <p:txBody>
          <a:bodyPr>
            <a:normAutofit/>
          </a:bodyPr>
          <a:lstStyle/>
          <a:p>
            <a:r>
              <a:rPr lang="en-US" dirty="0"/>
              <a:t>Data Flow</a:t>
            </a:r>
          </a:p>
          <a:p>
            <a:endParaRPr lang="en-US" dirty="0"/>
          </a:p>
          <a:p>
            <a:endParaRPr lang="en-US" dirty="0"/>
          </a:p>
          <a:p>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126" name="Picture 6" descr="Streams Example">
            <a:extLst>
              <a:ext uri="{FF2B5EF4-FFF2-40B4-BE49-F238E27FC236}">
                <a16:creationId xmlns:a16="http://schemas.microsoft.com/office/drawing/2014/main" id="{DA38F28F-A1E3-413D-9A2D-6939DDEEBD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297410"/>
            <a:ext cx="12191867" cy="5465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296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Data Pipe Lines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8"/>
            <a:ext cx="12068175" cy="6145822"/>
          </a:xfrm>
        </p:spPr>
        <p:txBody>
          <a:bodyPr>
            <a:normAutofit/>
          </a:bodyPr>
          <a:lstStyle/>
          <a:p>
            <a:r>
              <a:rPr lang="en-US" dirty="0"/>
              <a:t>Insert</a:t>
            </a:r>
          </a:p>
          <a:p>
            <a:endParaRPr lang="en-US" dirty="0"/>
          </a:p>
          <a:p>
            <a:endParaRPr lang="en-US" dirty="0"/>
          </a:p>
          <a:p>
            <a:r>
              <a:rPr lang="en-US" dirty="0"/>
              <a:t>Update</a:t>
            </a:r>
          </a:p>
          <a:p>
            <a:endParaRPr lang="en-US" dirty="0"/>
          </a:p>
          <a:p>
            <a:pPr marL="0" indent="0">
              <a:buNone/>
            </a:pPr>
            <a:endParaRPr lang="en-US" dirty="0"/>
          </a:p>
          <a:p>
            <a:pPr marL="0" indent="0">
              <a:buNone/>
            </a:pPr>
            <a:endParaRPr lang="en-US" dirty="0"/>
          </a:p>
          <a:p>
            <a:r>
              <a:rPr lang="en-US" dirty="0"/>
              <a:t>Delete</a:t>
            </a:r>
          </a:p>
          <a:p>
            <a:pPr marL="0" indent="0">
              <a:buNone/>
            </a:pPr>
            <a:endParaRPr lang="en-US" sz="2400" dirty="0"/>
          </a:p>
          <a:p>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8" name="Picture 6" descr="https://www.snowflake.com/wp-content/uploads/2019/06/Insert-True-Delete-True-943.png">
            <a:extLst>
              <a:ext uri="{FF2B5EF4-FFF2-40B4-BE49-F238E27FC236}">
                <a16:creationId xmlns:a16="http://schemas.microsoft.com/office/drawing/2014/main" id="{E276A40A-56AA-47E8-8749-7E45BC6DEC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653" y="2894132"/>
            <a:ext cx="11272472" cy="131445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https://www.snowflake.com/wp-content/uploads/2019/06/Insert-False-943.png">
            <a:extLst>
              <a:ext uri="{FF2B5EF4-FFF2-40B4-BE49-F238E27FC236}">
                <a16:creationId xmlns:a16="http://schemas.microsoft.com/office/drawing/2014/main" id="{841FB0D1-1494-47F1-A314-34AB3E3C93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653" y="1132729"/>
            <a:ext cx="11272472" cy="1049225"/>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https://www.snowflake.com/wp-content/uploads/2019/06/Delete-False-943.png">
            <a:extLst>
              <a:ext uri="{FF2B5EF4-FFF2-40B4-BE49-F238E27FC236}">
                <a16:creationId xmlns:a16="http://schemas.microsoft.com/office/drawing/2014/main" id="{FBCABDD8-F7F7-4A03-9B47-073754386D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087" y="4831372"/>
            <a:ext cx="11430000" cy="1314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966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Data Pipe Lines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8"/>
            <a:ext cx="12068175" cy="6145822"/>
          </a:xfrm>
        </p:spPr>
        <p:txBody>
          <a:bodyPr>
            <a:normAutofit fontScale="92500" lnSpcReduction="10000"/>
          </a:bodyPr>
          <a:lstStyle/>
          <a:p>
            <a:r>
              <a:rPr lang="en-US" sz="1800" b="1" dirty="0"/>
              <a:t>Streams DDL</a:t>
            </a:r>
          </a:p>
          <a:p>
            <a:pPr lvl="1"/>
            <a:r>
              <a:rPr lang="en-US" sz="1400" dirty="0"/>
              <a:t>Create Stream</a:t>
            </a:r>
          </a:p>
          <a:p>
            <a:pPr lvl="1"/>
            <a:r>
              <a:rPr lang="en-US" sz="1400" dirty="0"/>
              <a:t>Alter Stream</a:t>
            </a:r>
          </a:p>
          <a:p>
            <a:pPr lvl="1"/>
            <a:r>
              <a:rPr lang="en-US" sz="1400" dirty="0"/>
              <a:t>Drop Stream</a:t>
            </a:r>
          </a:p>
          <a:p>
            <a:pPr lvl="1"/>
            <a:r>
              <a:rPr lang="en-US" sz="1400" dirty="0"/>
              <a:t>Describe Stream</a:t>
            </a:r>
          </a:p>
          <a:p>
            <a:pPr lvl="1"/>
            <a:r>
              <a:rPr lang="en-US" sz="1400" dirty="0"/>
              <a:t>Show Stream</a:t>
            </a:r>
          </a:p>
          <a:p>
            <a:pPr lvl="1"/>
            <a:r>
              <a:rPr lang="en-US" altLang="en-US" sz="1400" dirty="0" err="1"/>
              <a:t>system$stream_has_data</a:t>
            </a:r>
            <a:r>
              <a:rPr lang="en-US" altLang="en-US" sz="1400" dirty="0"/>
              <a:t> – Select </a:t>
            </a:r>
            <a:r>
              <a:rPr lang="en-US" altLang="en-US" sz="1400" dirty="0" err="1"/>
              <a:t>system$stream_has_data</a:t>
            </a:r>
            <a:r>
              <a:rPr lang="en-US" altLang="en-US" sz="1400" dirty="0"/>
              <a:t>(&lt;Stream Name&gt;);</a:t>
            </a:r>
          </a:p>
          <a:p>
            <a:r>
              <a:rPr lang="en-US" altLang="en-US" sz="1800" b="1" dirty="0"/>
              <a:t>Script</a:t>
            </a:r>
          </a:p>
          <a:p>
            <a:pPr marL="457200" lvl="1" indent="0">
              <a:lnSpc>
                <a:spcPct val="100000"/>
              </a:lnSpc>
              <a:spcBef>
                <a:spcPts val="0"/>
              </a:spcBef>
              <a:buNone/>
            </a:pPr>
            <a:r>
              <a:rPr lang="en-US" sz="1400" dirty="0"/>
              <a:t>CREATE [ OR REPLACE ] STREAM [IF NOT EXISTS]</a:t>
            </a:r>
          </a:p>
          <a:p>
            <a:pPr marL="457200" lvl="1" indent="0">
              <a:lnSpc>
                <a:spcPct val="100000"/>
              </a:lnSpc>
              <a:spcBef>
                <a:spcPts val="0"/>
              </a:spcBef>
              <a:buNone/>
            </a:pPr>
            <a:r>
              <a:rPr lang="en-US" sz="1400" dirty="0"/>
              <a:t>  &lt;name&gt;</a:t>
            </a:r>
          </a:p>
          <a:p>
            <a:pPr marL="457200" lvl="1" indent="0">
              <a:lnSpc>
                <a:spcPct val="100000"/>
              </a:lnSpc>
              <a:spcBef>
                <a:spcPts val="0"/>
              </a:spcBef>
              <a:buNone/>
            </a:pPr>
            <a:r>
              <a:rPr lang="en-US" sz="1400" dirty="0"/>
              <a:t>  [ COPY GRANTS ]</a:t>
            </a:r>
          </a:p>
          <a:p>
            <a:pPr marL="457200" lvl="1" indent="0">
              <a:lnSpc>
                <a:spcPct val="100000"/>
              </a:lnSpc>
              <a:spcBef>
                <a:spcPts val="0"/>
              </a:spcBef>
              <a:buNone/>
            </a:pPr>
            <a:r>
              <a:rPr lang="en-US" sz="1400" dirty="0"/>
              <a:t>  [ COMMENT = '&lt;</a:t>
            </a:r>
            <a:r>
              <a:rPr lang="en-US" sz="1400" dirty="0" err="1"/>
              <a:t>string_literal</a:t>
            </a:r>
            <a:r>
              <a:rPr lang="en-US" sz="1400" dirty="0"/>
              <a:t>&gt;' ]</a:t>
            </a:r>
          </a:p>
          <a:p>
            <a:pPr marL="457200" lvl="1" indent="0">
              <a:lnSpc>
                <a:spcPct val="100000"/>
              </a:lnSpc>
              <a:spcBef>
                <a:spcPts val="0"/>
              </a:spcBef>
              <a:buNone/>
            </a:pPr>
            <a:r>
              <a:rPr lang="en-US" sz="1400" dirty="0"/>
              <a:t>  ON TABLE &lt;</a:t>
            </a:r>
            <a:r>
              <a:rPr lang="en-US" sz="1400" dirty="0" err="1"/>
              <a:t>table_name</a:t>
            </a:r>
            <a:r>
              <a:rPr lang="en-US" sz="1400" dirty="0"/>
              <a:t>&gt;</a:t>
            </a:r>
          </a:p>
          <a:p>
            <a:pPr marL="457200" lvl="1" indent="0">
              <a:lnSpc>
                <a:spcPct val="100000"/>
              </a:lnSpc>
              <a:spcBef>
                <a:spcPts val="0"/>
              </a:spcBef>
              <a:buNone/>
            </a:pPr>
            <a:r>
              <a:rPr lang="en-US" sz="1400" dirty="0"/>
              <a:t>    [ { AT | BEFORE } { TIMESTAMP =&gt; &lt;timestamp&gt; | OFFSET =&gt; &lt;</a:t>
            </a:r>
            <a:r>
              <a:rPr lang="en-US" sz="1400" dirty="0" err="1"/>
              <a:t>time_difference</a:t>
            </a:r>
            <a:r>
              <a:rPr lang="en-US" sz="1400" dirty="0"/>
              <a:t>&gt; | STATEMENT =&gt; &lt;id&gt; } ]</a:t>
            </a:r>
          </a:p>
          <a:p>
            <a:pPr marL="457200" lvl="1" indent="0">
              <a:lnSpc>
                <a:spcPct val="100000"/>
              </a:lnSpc>
              <a:spcBef>
                <a:spcPts val="0"/>
              </a:spcBef>
              <a:buNone/>
            </a:pPr>
            <a:endParaRPr lang="en-US" sz="1400" dirty="0"/>
          </a:p>
          <a:p>
            <a:pPr marL="0" indent="0">
              <a:lnSpc>
                <a:spcPct val="100000"/>
              </a:lnSpc>
              <a:spcBef>
                <a:spcPts val="0"/>
              </a:spcBef>
              <a:buNone/>
            </a:pPr>
            <a:r>
              <a:rPr lang="en-US" sz="1800" b="1" dirty="0"/>
              <a:t>Examples :</a:t>
            </a:r>
          </a:p>
          <a:p>
            <a:pPr marL="457200" lvl="1" indent="0">
              <a:lnSpc>
                <a:spcPct val="100000"/>
              </a:lnSpc>
              <a:spcBef>
                <a:spcPts val="0"/>
              </a:spcBef>
              <a:buNone/>
            </a:pPr>
            <a:r>
              <a:rPr lang="en-US" sz="1400" dirty="0"/>
              <a:t>create stream </a:t>
            </a:r>
            <a:r>
              <a:rPr lang="en-US" sz="1400" dirty="0" err="1"/>
              <a:t>mystream</a:t>
            </a:r>
            <a:r>
              <a:rPr lang="en-US" sz="1400" dirty="0"/>
              <a:t> on table </a:t>
            </a:r>
            <a:r>
              <a:rPr lang="en-US" sz="1400" dirty="0" err="1"/>
              <a:t>mytable</a:t>
            </a:r>
            <a:r>
              <a:rPr lang="en-US" sz="1400" dirty="0"/>
              <a:t>;</a:t>
            </a:r>
          </a:p>
          <a:p>
            <a:pPr marL="457200" lvl="1" indent="0">
              <a:lnSpc>
                <a:spcPct val="100000"/>
              </a:lnSpc>
              <a:spcBef>
                <a:spcPts val="0"/>
              </a:spcBef>
              <a:buNone/>
            </a:pPr>
            <a:endParaRPr lang="en-US" sz="1400" dirty="0"/>
          </a:p>
          <a:p>
            <a:pPr marL="457200" lvl="1" indent="0">
              <a:lnSpc>
                <a:spcPct val="100000"/>
              </a:lnSpc>
              <a:spcBef>
                <a:spcPts val="0"/>
              </a:spcBef>
              <a:buNone/>
            </a:pPr>
            <a:r>
              <a:rPr lang="en-US" sz="1500" b="1" dirty="0"/>
              <a:t>Using Time Travel with the Source Table:</a:t>
            </a:r>
          </a:p>
          <a:p>
            <a:pPr marL="457200" lvl="1" indent="0">
              <a:lnSpc>
                <a:spcPct val="100000"/>
              </a:lnSpc>
              <a:spcBef>
                <a:spcPts val="0"/>
              </a:spcBef>
              <a:buNone/>
            </a:pPr>
            <a:endParaRPr lang="en-US" sz="1400" dirty="0"/>
          </a:p>
          <a:p>
            <a:pPr marL="457200" lvl="1" indent="0">
              <a:lnSpc>
                <a:spcPct val="100000"/>
              </a:lnSpc>
              <a:spcBef>
                <a:spcPts val="0"/>
              </a:spcBef>
              <a:buNone/>
            </a:pPr>
            <a:r>
              <a:rPr lang="en-US" sz="1400" dirty="0"/>
              <a:t>--Create a stream on the </a:t>
            </a:r>
            <a:r>
              <a:rPr lang="en-US" sz="1400" dirty="0" err="1"/>
              <a:t>mytable</a:t>
            </a:r>
            <a:r>
              <a:rPr lang="en-US" sz="1400" dirty="0"/>
              <a:t> table as it existed exactly at the date and time of the specified timestamp:</a:t>
            </a:r>
          </a:p>
          <a:p>
            <a:pPr marL="457200" lvl="1" indent="0">
              <a:lnSpc>
                <a:spcPct val="100000"/>
              </a:lnSpc>
              <a:spcBef>
                <a:spcPts val="0"/>
              </a:spcBef>
              <a:buNone/>
            </a:pPr>
            <a:r>
              <a:rPr lang="en-US" sz="1400" dirty="0"/>
              <a:t>create stream </a:t>
            </a:r>
            <a:r>
              <a:rPr lang="en-US" sz="1400" dirty="0" err="1"/>
              <a:t>mystream</a:t>
            </a:r>
            <a:r>
              <a:rPr lang="en-US" sz="1400" dirty="0"/>
              <a:t> on table </a:t>
            </a:r>
            <a:r>
              <a:rPr lang="en-US" sz="1400" dirty="0" err="1"/>
              <a:t>mytable</a:t>
            </a:r>
            <a:r>
              <a:rPr lang="en-US" sz="1400" dirty="0"/>
              <a:t> at (timestamp =&gt; </a:t>
            </a:r>
            <a:r>
              <a:rPr lang="en-US" sz="1400" dirty="0" err="1"/>
              <a:t>to_timestamp_tz</a:t>
            </a:r>
            <a:r>
              <a:rPr lang="en-US" sz="1400" dirty="0"/>
              <a:t>('02/02/2019 01:02:03', 'mm/</a:t>
            </a:r>
            <a:r>
              <a:rPr lang="en-US" sz="1400" dirty="0" err="1"/>
              <a:t>dd</a:t>
            </a:r>
            <a:r>
              <a:rPr lang="en-US" sz="1400" dirty="0"/>
              <a:t>/</a:t>
            </a:r>
            <a:r>
              <a:rPr lang="en-US" sz="1400" dirty="0" err="1"/>
              <a:t>yyyy</a:t>
            </a:r>
            <a:r>
              <a:rPr lang="en-US" sz="1400" dirty="0"/>
              <a:t> hh24:mi:ss'));</a:t>
            </a:r>
          </a:p>
          <a:p>
            <a:pPr marL="457200" lvl="1" indent="0">
              <a:lnSpc>
                <a:spcPct val="100000"/>
              </a:lnSpc>
              <a:spcBef>
                <a:spcPts val="0"/>
              </a:spcBef>
              <a:buNone/>
            </a:pPr>
            <a:endParaRPr lang="en-US" sz="1400" dirty="0"/>
          </a:p>
          <a:p>
            <a:pPr marL="457200" lvl="1" indent="0">
              <a:lnSpc>
                <a:spcPct val="100000"/>
              </a:lnSpc>
              <a:spcBef>
                <a:spcPts val="0"/>
              </a:spcBef>
              <a:buNone/>
            </a:pPr>
            <a:r>
              <a:rPr lang="en-US" sz="1400" dirty="0"/>
              <a:t>--Create a stream on the </a:t>
            </a:r>
            <a:r>
              <a:rPr lang="en-US" sz="1400" dirty="0" err="1"/>
              <a:t>mytable</a:t>
            </a:r>
            <a:r>
              <a:rPr lang="en-US" sz="1400" dirty="0"/>
              <a:t> table as it existed 5 minutes ago:</a:t>
            </a:r>
          </a:p>
          <a:p>
            <a:pPr marL="457200" lvl="1" indent="0">
              <a:lnSpc>
                <a:spcPct val="100000"/>
              </a:lnSpc>
              <a:spcBef>
                <a:spcPts val="0"/>
              </a:spcBef>
              <a:buNone/>
            </a:pPr>
            <a:r>
              <a:rPr lang="en-US" sz="1400" dirty="0"/>
              <a:t>Create stream </a:t>
            </a:r>
            <a:r>
              <a:rPr lang="en-US" sz="1400" dirty="0" err="1"/>
              <a:t>mystream</a:t>
            </a:r>
            <a:r>
              <a:rPr lang="en-US" sz="1400" dirty="0"/>
              <a:t> on table </a:t>
            </a:r>
            <a:r>
              <a:rPr lang="en-US" sz="1400" dirty="0" err="1"/>
              <a:t>mytable</a:t>
            </a:r>
            <a:r>
              <a:rPr lang="en-US" sz="1400" dirty="0"/>
              <a:t> at(offset =&gt; -60*5);</a:t>
            </a:r>
          </a:p>
          <a:p>
            <a:pPr marL="457200" lvl="1" indent="0">
              <a:lnSpc>
                <a:spcPct val="100000"/>
              </a:lnSpc>
              <a:spcBef>
                <a:spcPts val="0"/>
              </a:spcBef>
              <a:buNone/>
            </a:pPr>
            <a:endParaRPr lang="en-US" sz="1400" dirty="0"/>
          </a:p>
          <a:p>
            <a:pPr marL="457200" lvl="1" indent="0">
              <a:lnSpc>
                <a:spcPct val="100000"/>
              </a:lnSpc>
              <a:spcBef>
                <a:spcPts val="0"/>
              </a:spcBef>
              <a:buNone/>
            </a:pPr>
            <a:r>
              <a:rPr lang="en-US" sz="1400" dirty="0"/>
              <a:t>--Create a stream on the </a:t>
            </a:r>
            <a:r>
              <a:rPr lang="en-US" sz="1400" dirty="0" err="1"/>
              <a:t>mytable</a:t>
            </a:r>
            <a:r>
              <a:rPr lang="en-US" sz="1400" dirty="0"/>
              <a:t> table including transactions up to, but not including any changes made by the specified transaction:</a:t>
            </a:r>
          </a:p>
          <a:p>
            <a:pPr marL="457200" lvl="1" indent="0">
              <a:lnSpc>
                <a:spcPct val="100000"/>
              </a:lnSpc>
              <a:spcBef>
                <a:spcPts val="0"/>
              </a:spcBef>
              <a:buNone/>
            </a:pPr>
            <a:endParaRPr lang="en-US" sz="1400" dirty="0"/>
          </a:p>
          <a:p>
            <a:pPr marL="457200" lvl="1" indent="0">
              <a:lnSpc>
                <a:spcPct val="100000"/>
              </a:lnSpc>
              <a:spcBef>
                <a:spcPts val="0"/>
              </a:spcBef>
              <a:buNone/>
            </a:pPr>
            <a:r>
              <a:rPr lang="en-US" sz="1400" dirty="0"/>
              <a:t>create stream </a:t>
            </a:r>
            <a:r>
              <a:rPr lang="en-US" sz="1400" dirty="0" err="1"/>
              <a:t>mystream</a:t>
            </a:r>
            <a:r>
              <a:rPr lang="en-US" sz="1400" dirty="0"/>
              <a:t> on table </a:t>
            </a:r>
            <a:r>
              <a:rPr lang="en-US" sz="1400" dirty="0" err="1"/>
              <a:t>mytable</a:t>
            </a:r>
            <a:r>
              <a:rPr lang="en-US" sz="1400" dirty="0"/>
              <a:t> before(statement =&gt; '8e5d0ca9-005e-44e6-b858-a8f5b37c5726');</a:t>
            </a:r>
          </a:p>
          <a:p>
            <a:endParaRPr lang="en-US" dirty="0"/>
          </a:p>
          <a:p>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B1DD87ED-A7AC-4C0F-8343-6A2F3CAF66C5}"/>
              </a:ext>
            </a:extLst>
          </p:cNvPr>
          <p:cNvSpPr>
            <a:spLocks noChangeArrowheads="1"/>
          </p:cNvSpPr>
          <p:nvPr/>
        </p:nvSpPr>
        <p:spPr bwMode="auto">
          <a:xfrm>
            <a:off x="152400" y="114301"/>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87317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Tasks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8"/>
            <a:ext cx="12068175" cy="6145822"/>
          </a:xfrm>
        </p:spPr>
        <p:txBody>
          <a:bodyPr>
            <a:normAutofit/>
          </a:bodyPr>
          <a:lstStyle/>
          <a:p>
            <a:r>
              <a:rPr lang="en-US" dirty="0"/>
              <a:t>Tasks</a:t>
            </a:r>
          </a:p>
          <a:p>
            <a:pPr lvl="1"/>
            <a:r>
              <a:rPr lang="en-US" dirty="0"/>
              <a:t>Run Based on Frequency Configuration in the Definition</a:t>
            </a:r>
          </a:p>
          <a:p>
            <a:pPr lvl="1"/>
            <a:r>
              <a:rPr lang="en-US" dirty="0"/>
              <a:t>Execute Single DML Statement or Procedure</a:t>
            </a:r>
          </a:p>
          <a:p>
            <a:pPr lvl="1"/>
            <a:r>
              <a:rPr lang="en-US" dirty="0"/>
              <a:t>Can be combined with streams for ELT workflow</a:t>
            </a:r>
          </a:p>
          <a:p>
            <a:pPr lvl="1"/>
            <a:r>
              <a:rPr lang="en-US" dirty="0"/>
              <a:t>Generate periodic reports by inserting or merging rows into a report table</a:t>
            </a:r>
          </a:p>
          <a:p>
            <a:pPr lvl="1"/>
            <a:r>
              <a:rPr lang="en-US" dirty="0"/>
              <a:t>One-hour limit on a single run of a task (Max One Hour Running SQL or Proc)</a:t>
            </a:r>
          </a:p>
          <a:p>
            <a:pPr lvl="1"/>
            <a:r>
              <a:rPr lang="en-US" dirty="0"/>
              <a:t>Task Timed out or Exceeded the Schedule Window – Check for Warehouse or Performance</a:t>
            </a:r>
          </a:p>
          <a:p>
            <a:pPr lvl="1"/>
            <a:r>
              <a:rPr lang="en-US" dirty="0"/>
              <a:t>Tasks Must me resumed after Creation</a:t>
            </a:r>
          </a:p>
          <a:p>
            <a:r>
              <a:rPr lang="en-US" dirty="0"/>
              <a:t>Task Scheduling – By Minute or Using Cron Job Notation</a:t>
            </a:r>
          </a:p>
          <a:p>
            <a:endParaRPr lang="en-US" dirty="0"/>
          </a:p>
          <a:p>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A0A29123-CB44-4599-A218-6FDEE104E84A}"/>
              </a:ext>
            </a:extLst>
          </p:cNvPr>
          <p:cNvPicPr>
            <a:picLocks noChangeAspect="1"/>
          </p:cNvPicPr>
          <p:nvPr/>
        </p:nvPicPr>
        <p:blipFill>
          <a:blip r:embed="rId2"/>
          <a:stretch>
            <a:fillRect/>
          </a:stretch>
        </p:blipFill>
        <p:spPr>
          <a:xfrm>
            <a:off x="0" y="4378569"/>
            <a:ext cx="9848849" cy="2479431"/>
          </a:xfrm>
          <a:prstGeom prst="rect">
            <a:avLst/>
          </a:prstGeom>
        </p:spPr>
      </p:pic>
    </p:spTree>
    <p:extLst>
      <p:ext uri="{BB962C8B-B14F-4D97-AF65-F5344CB8AC3E}">
        <p14:creationId xmlns:p14="http://schemas.microsoft.com/office/powerpoint/2010/main" val="3368148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Tasks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38554"/>
            <a:ext cx="12068175" cy="6145822"/>
          </a:xfrm>
        </p:spPr>
        <p:txBody>
          <a:bodyPr>
            <a:normAutofit/>
          </a:bodyPr>
          <a:lstStyle/>
          <a:p>
            <a:r>
              <a:rPr lang="en-US" dirty="0"/>
              <a:t>Tasks DDL</a:t>
            </a:r>
          </a:p>
          <a:p>
            <a:pPr lvl="1"/>
            <a:r>
              <a:rPr lang="en-US" sz="1600" dirty="0"/>
              <a:t>Create Task</a:t>
            </a:r>
          </a:p>
          <a:p>
            <a:pPr lvl="1"/>
            <a:r>
              <a:rPr lang="en-US" sz="1600" dirty="0"/>
              <a:t>Alter Task </a:t>
            </a:r>
          </a:p>
          <a:p>
            <a:pPr lvl="1"/>
            <a:r>
              <a:rPr lang="en-US" sz="1600" dirty="0"/>
              <a:t>Drop Task</a:t>
            </a:r>
          </a:p>
          <a:p>
            <a:pPr lvl="1"/>
            <a:r>
              <a:rPr lang="en-US" sz="1600" dirty="0"/>
              <a:t>Describe Task</a:t>
            </a:r>
          </a:p>
          <a:p>
            <a:pPr lvl="1"/>
            <a:r>
              <a:rPr lang="en-US" sz="1600" dirty="0"/>
              <a:t>Show Tasks</a:t>
            </a:r>
          </a:p>
          <a:p>
            <a:pPr lvl="1"/>
            <a:r>
              <a:rPr lang="en-US" sz="1600" dirty="0"/>
              <a:t>SYSTEM$CURRENT_USER_TASK_NAME</a:t>
            </a:r>
          </a:p>
          <a:p>
            <a:pPr lvl="1"/>
            <a:r>
              <a:rPr lang="en-US" sz="1600" dirty="0"/>
              <a:t>TASK_HISTORY</a:t>
            </a:r>
          </a:p>
          <a:p>
            <a:pPr lvl="1"/>
            <a:r>
              <a:rPr lang="en-US" sz="1600" dirty="0"/>
              <a:t>TASK_DEPENDENTS</a:t>
            </a:r>
          </a:p>
          <a:p>
            <a:pPr lvl="1"/>
            <a:r>
              <a:rPr lang="en-US" sz="1600" dirty="0"/>
              <a:t>SYSTEM$TASK_DEPENDENTS_ENABLE</a:t>
            </a:r>
          </a:p>
          <a:p>
            <a:r>
              <a:rPr lang="en-US" sz="2000" dirty="0"/>
              <a:t>Tasks in Hierarchy</a:t>
            </a:r>
          </a:p>
          <a:p>
            <a:r>
              <a:rPr lang="en-US" sz="2000" dirty="0"/>
              <a:t>                                                                                                                    Root Task Must Have a Schedule</a:t>
            </a:r>
          </a:p>
          <a:p>
            <a:pPr marL="0" indent="0">
              <a:buNone/>
            </a:pPr>
            <a:r>
              <a:rPr lang="en-US" sz="2000" dirty="0"/>
              <a:t>                                                                                                                        A Task is limited to 1 Predecessor Task</a:t>
            </a:r>
          </a:p>
          <a:p>
            <a:pPr marL="0" indent="0">
              <a:buNone/>
            </a:pPr>
            <a:r>
              <a:rPr lang="en-US" sz="2000" dirty="0"/>
              <a:t>                                                                                                                        Max 100 Child Tasks – Task B</a:t>
            </a:r>
          </a:p>
          <a:p>
            <a:pPr marL="0" indent="0">
              <a:buNone/>
            </a:pPr>
            <a:endParaRPr lang="en-US" dirty="0"/>
          </a:p>
          <a:p>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B1DD87ED-A7AC-4C0F-8343-6A2F3CAF66C5}"/>
              </a:ext>
            </a:extLst>
          </p:cNvPr>
          <p:cNvSpPr>
            <a:spLocks noChangeArrowheads="1"/>
          </p:cNvSpPr>
          <p:nvPr/>
        </p:nvSpPr>
        <p:spPr bwMode="auto">
          <a:xfrm>
            <a:off x="152400" y="114301"/>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194" name="Picture 2" descr="Tree of tasks">
            <a:extLst>
              <a:ext uri="{FF2B5EF4-FFF2-40B4-BE49-F238E27FC236}">
                <a16:creationId xmlns:a16="http://schemas.microsoft.com/office/drawing/2014/main" id="{8943AE96-ED35-4084-AD0E-DFE31CCE02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123590"/>
            <a:ext cx="6688015" cy="2620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8022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Tasks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8"/>
            <a:ext cx="12068175" cy="6145822"/>
          </a:xfrm>
        </p:spPr>
        <p:txBody>
          <a:bodyPr>
            <a:normAutofit/>
          </a:bodyPr>
          <a:lstStyle/>
          <a:p>
            <a:r>
              <a:rPr lang="en-US" dirty="0"/>
              <a:t>Tasks</a:t>
            </a:r>
          </a:p>
          <a:p>
            <a:pPr marL="457200" lvl="1" indent="0">
              <a:buNone/>
            </a:pPr>
            <a:r>
              <a:rPr lang="en-US" sz="1400" dirty="0"/>
              <a:t>CREATE [ OR REPLACE ] TASK [ IF NOT EXISTS ] &lt;name&gt;</a:t>
            </a:r>
          </a:p>
          <a:p>
            <a:pPr marL="457200" lvl="1" indent="0">
              <a:buNone/>
            </a:pPr>
            <a:r>
              <a:rPr lang="en-US" sz="1400" dirty="0"/>
              <a:t>  WAREHOUSE = &lt;string&gt;</a:t>
            </a:r>
          </a:p>
          <a:p>
            <a:pPr marL="457200" lvl="1" indent="0">
              <a:buNone/>
            </a:pPr>
            <a:r>
              <a:rPr lang="en-US" sz="1400" dirty="0"/>
              <a:t>  [ SCHEDULE = { &lt;number&gt; MINUTE | USING CRON &lt;expr&gt; &lt;</a:t>
            </a:r>
            <a:r>
              <a:rPr lang="en-US" sz="1400" dirty="0" err="1"/>
              <a:t>time_zone</a:t>
            </a:r>
            <a:r>
              <a:rPr lang="en-US" sz="1400" dirty="0"/>
              <a:t>&gt; } | AFTER &lt;string&gt; ]</a:t>
            </a:r>
          </a:p>
          <a:p>
            <a:pPr marL="457200" lvl="1" indent="0">
              <a:buNone/>
            </a:pPr>
            <a:r>
              <a:rPr lang="en-US" sz="1400" dirty="0"/>
              <a:t>  [ &lt;</a:t>
            </a:r>
            <a:r>
              <a:rPr lang="en-US" sz="1400" dirty="0" err="1"/>
              <a:t>session_parameter</a:t>
            </a:r>
            <a:r>
              <a:rPr lang="en-US" sz="1400" dirty="0"/>
              <a:t>&gt; = &lt;value&gt; [ , &lt;</a:t>
            </a:r>
            <a:r>
              <a:rPr lang="en-US" sz="1400" dirty="0" err="1"/>
              <a:t>session_parameter</a:t>
            </a:r>
            <a:r>
              <a:rPr lang="en-US" sz="1400" dirty="0"/>
              <a:t>&gt; = &lt;value&gt; ... ] ]</a:t>
            </a:r>
          </a:p>
          <a:p>
            <a:pPr marL="457200" lvl="1" indent="0">
              <a:buNone/>
            </a:pPr>
            <a:r>
              <a:rPr lang="en-US" sz="1400" dirty="0"/>
              <a:t>  [ COPY GRANTS ]</a:t>
            </a:r>
          </a:p>
          <a:p>
            <a:pPr marL="457200" lvl="1" indent="0">
              <a:buNone/>
            </a:pPr>
            <a:r>
              <a:rPr lang="en-US" sz="1400" dirty="0"/>
              <a:t>  [ COMMENT = '&lt;</a:t>
            </a:r>
            <a:r>
              <a:rPr lang="en-US" sz="1400" dirty="0" err="1"/>
              <a:t>string_literal</a:t>
            </a:r>
            <a:r>
              <a:rPr lang="en-US" sz="1400" dirty="0"/>
              <a:t>&gt;' ]</a:t>
            </a:r>
          </a:p>
          <a:p>
            <a:pPr marL="457200" lvl="1" indent="0">
              <a:buNone/>
            </a:pPr>
            <a:r>
              <a:rPr lang="en-US" sz="1400" dirty="0"/>
              <a:t>[ WHEN &lt;</a:t>
            </a:r>
            <a:r>
              <a:rPr lang="en-US" sz="1400" dirty="0" err="1"/>
              <a:t>boolean_expr</a:t>
            </a:r>
            <a:r>
              <a:rPr lang="en-US" sz="1400" dirty="0"/>
              <a:t>&gt; ]</a:t>
            </a:r>
          </a:p>
          <a:p>
            <a:pPr marL="457200" lvl="1" indent="0">
              <a:buNone/>
            </a:pPr>
            <a:r>
              <a:rPr lang="en-US" sz="1400" dirty="0"/>
              <a:t>AS</a:t>
            </a:r>
          </a:p>
          <a:p>
            <a:pPr marL="457200" lvl="1" indent="0">
              <a:buNone/>
            </a:pPr>
            <a:r>
              <a:rPr lang="en-US" sz="1400" dirty="0"/>
              <a:t>  &lt;</a:t>
            </a:r>
            <a:r>
              <a:rPr lang="en-US" sz="1400" dirty="0" err="1"/>
              <a:t>sql</a:t>
            </a:r>
            <a:r>
              <a:rPr lang="en-US" sz="1400" dirty="0"/>
              <a:t>&gt;Task Scheduling</a:t>
            </a:r>
          </a:p>
          <a:p>
            <a:pPr marL="0" indent="0">
              <a:buNone/>
            </a:pPr>
            <a:r>
              <a:rPr lang="en-US" sz="1800" b="1" dirty="0"/>
              <a:t>Examples :</a:t>
            </a:r>
          </a:p>
          <a:p>
            <a:pPr marL="457200" lvl="1" indent="0">
              <a:lnSpc>
                <a:spcPct val="100000"/>
              </a:lnSpc>
              <a:spcBef>
                <a:spcPts val="0"/>
              </a:spcBef>
              <a:buNone/>
            </a:pPr>
            <a:r>
              <a:rPr lang="en-US" sz="1600" dirty="0"/>
              <a:t>-- Create a task that Inserts data After Every Hour</a:t>
            </a:r>
          </a:p>
          <a:p>
            <a:pPr marL="457200" lvl="1" indent="0">
              <a:lnSpc>
                <a:spcPct val="100000"/>
              </a:lnSpc>
              <a:spcBef>
                <a:spcPts val="0"/>
              </a:spcBef>
              <a:buNone/>
            </a:pPr>
            <a:r>
              <a:rPr lang="en-US" sz="1600" dirty="0"/>
              <a:t> </a:t>
            </a:r>
          </a:p>
          <a:p>
            <a:pPr marL="457200" lvl="1" indent="0">
              <a:lnSpc>
                <a:spcPct val="100000"/>
              </a:lnSpc>
              <a:spcBef>
                <a:spcPts val="0"/>
              </a:spcBef>
              <a:buNone/>
            </a:pPr>
            <a:r>
              <a:rPr lang="en-US" sz="1600" dirty="0"/>
              <a:t>insert into </a:t>
            </a:r>
            <a:r>
              <a:rPr lang="en-US" sz="1600" dirty="0" err="1"/>
              <a:t>my_customer</a:t>
            </a:r>
            <a:r>
              <a:rPr lang="en-US" sz="1600" dirty="0"/>
              <a:t> values ();</a:t>
            </a:r>
          </a:p>
          <a:p>
            <a:pPr marL="457200" lvl="1" indent="0">
              <a:lnSpc>
                <a:spcPct val="100000"/>
              </a:lnSpc>
              <a:spcBef>
                <a:spcPts val="0"/>
              </a:spcBef>
              <a:buNone/>
            </a:pPr>
            <a:endParaRPr lang="en-US" sz="1600" dirty="0"/>
          </a:p>
          <a:p>
            <a:pPr marL="457200" lvl="1" indent="0">
              <a:lnSpc>
                <a:spcPct val="100000"/>
              </a:lnSpc>
              <a:spcBef>
                <a:spcPts val="0"/>
              </a:spcBef>
              <a:buNone/>
            </a:pPr>
            <a:r>
              <a:rPr lang="en-US" sz="1600" dirty="0"/>
              <a:t>-- Insert Data into Table Every 1 Hour Starting from 9 AM and Ending 5 PM Sundays (America/Los Angeles time zone)</a:t>
            </a:r>
          </a:p>
          <a:p>
            <a:pPr marL="457200" lvl="1" indent="0">
              <a:lnSpc>
                <a:spcPct val="100000"/>
              </a:lnSpc>
              <a:spcBef>
                <a:spcPts val="0"/>
              </a:spcBef>
              <a:buNone/>
            </a:pPr>
            <a:r>
              <a:rPr lang="en-US" sz="1600" dirty="0"/>
              <a:t>CREATE OR REPLACE TASK </a:t>
            </a:r>
            <a:r>
              <a:rPr lang="en-US" sz="1600" dirty="0" err="1"/>
              <a:t>mytask_hour</a:t>
            </a:r>
            <a:endParaRPr lang="en-US" sz="1600" dirty="0"/>
          </a:p>
          <a:p>
            <a:pPr marL="457200" lvl="1" indent="0">
              <a:lnSpc>
                <a:spcPct val="100000"/>
              </a:lnSpc>
              <a:spcBef>
                <a:spcPts val="0"/>
              </a:spcBef>
              <a:buNone/>
            </a:pPr>
            <a:r>
              <a:rPr lang="en-US" sz="1600" dirty="0"/>
              <a:t>  WAREHOUSE = </a:t>
            </a:r>
            <a:r>
              <a:rPr lang="en-US" sz="1600" dirty="0" err="1"/>
              <a:t>mpeters_wh</a:t>
            </a:r>
            <a:endParaRPr lang="en-US" sz="1600" dirty="0"/>
          </a:p>
          <a:p>
            <a:pPr marL="457200" lvl="1" indent="0">
              <a:lnSpc>
                <a:spcPct val="100000"/>
              </a:lnSpc>
              <a:spcBef>
                <a:spcPts val="0"/>
              </a:spcBef>
              <a:buNone/>
            </a:pPr>
            <a:r>
              <a:rPr lang="en-US" sz="1600" dirty="0"/>
              <a:t>  SCHEDULE = 'USING CRON 0 9-17 * * SUN America/</a:t>
            </a:r>
            <a:r>
              <a:rPr lang="en-US" sz="1600" dirty="0" err="1"/>
              <a:t>Los_Angeles</a:t>
            </a:r>
            <a:r>
              <a:rPr lang="en-US" sz="1600" dirty="0"/>
              <a:t>'</a:t>
            </a:r>
          </a:p>
          <a:p>
            <a:pPr marL="457200" lvl="1" indent="0">
              <a:lnSpc>
                <a:spcPct val="100000"/>
              </a:lnSpc>
              <a:spcBef>
                <a:spcPts val="0"/>
              </a:spcBef>
              <a:buNone/>
            </a:pPr>
            <a:r>
              <a:rPr lang="en-US" sz="1600" dirty="0"/>
              <a:t>  TIMESTAMP_INPUT_FORMAT = 'YYYY-MM-DD HH24'</a:t>
            </a:r>
          </a:p>
          <a:p>
            <a:pPr marL="457200" lvl="1" indent="0">
              <a:lnSpc>
                <a:spcPct val="100000"/>
              </a:lnSpc>
              <a:spcBef>
                <a:spcPts val="0"/>
              </a:spcBef>
              <a:buNone/>
            </a:pPr>
            <a:r>
              <a:rPr lang="en-US" sz="1600" dirty="0"/>
              <a:t>AS</a:t>
            </a:r>
          </a:p>
          <a:p>
            <a:pPr marL="457200" lvl="1" indent="0">
              <a:lnSpc>
                <a:spcPct val="100000"/>
              </a:lnSpc>
              <a:spcBef>
                <a:spcPts val="0"/>
              </a:spcBef>
              <a:buNone/>
            </a:pPr>
            <a:r>
              <a:rPr lang="en-US" sz="1600" dirty="0"/>
              <a:t>INSERT INTO </a:t>
            </a:r>
            <a:r>
              <a:rPr lang="en-US" sz="1600" dirty="0" err="1"/>
              <a:t>mytable</a:t>
            </a:r>
            <a:r>
              <a:rPr lang="en-US" sz="1600" dirty="0"/>
              <a:t>(</a:t>
            </a:r>
            <a:r>
              <a:rPr lang="en-US" sz="1600" dirty="0" err="1"/>
              <a:t>ts</a:t>
            </a:r>
            <a:r>
              <a:rPr lang="en-US" sz="1600" dirty="0"/>
              <a:t>) VALUES(CURRENT_TIMESTAMP);</a:t>
            </a:r>
          </a:p>
          <a:p>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61262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Tasks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8"/>
            <a:ext cx="12068175" cy="6145822"/>
          </a:xfrm>
        </p:spPr>
        <p:txBody>
          <a:bodyPr>
            <a:normAutofit/>
          </a:bodyPr>
          <a:lstStyle/>
          <a:p>
            <a:r>
              <a:rPr lang="en-US" dirty="0"/>
              <a:t>Tasks</a:t>
            </a:r>
          </a:p>
          <a:p>
            <a:pPr marL="0" indent="0">
              <a:buNone/>
            </a:pPr>
            <a:r>
              <a:rPr lang="en-US" sz="1800" b="1" dirty="0"/>
              <a:t>Examples : In UTC Time Zone</a:t>
            </a:r>
          </a:p>
          <a:p>
            <a:pPr marL="0" indent="0">
              <a:buNone/>
            </a:pPr>
            <a:endParaRPr lang="en-US" sz="1800" b="1" dirty="0"/>
          </a:p>
          <a:p>
            <a:pPr marL="0" indent="0">
              <a:buNone/>
            </a:pPr>
            <a:endParaRPr lang="en-US" sz="1800" b="1" dirty="0"/>
          </a:p>
          <a:p>
            <a:pPr marL="0" indent="0">
              <a:buNone/>
            </a:pPr>
            <a:endParaRPr lang="en-US" sz="1800" b="1" dirty="0"/>
          </a:p>
          <a:p>
            <a:pPr marL="0" indent="0">
              <a:buNone/>
            </a:pPr>
            <a:endParaRPr lang="en-US" sz="1800" b="1" dirty="0"/>
          </a:p>
          <a:p>
            <a:pPr marL="0" indent="0">
              <a:buNone/>
            </a:pPr>
            <a:endParaRPr lang="en-US" sz="1800" b="1" dirty="0"/>
          </a:p>
          <a:p>
            <a:pPr marL="0" indent="0">
              <a:buNone/>
            </a:pPr>
            <a:endParaRPr lang="en-US" sz="1800" b="1" dirty="0"/>
          </a:p>
          <a:p>
            <a:pPr marL="0" indent="0">
              <a:buNone/>
            </a:pPr>
            <a:endParaRPr lang="en-US" sz="1800" b="1" dirty="0"/>
          </a:p>
          <a:p>
            <a:pPr marL="0" indent="0">
              <a:buNone/>
            </a:pPr>
            <a:r>
              <a:rPr lang="en-US" sz="1800" b="1" dirty="0"/>
              <a:t>-- Checking If the Stream Has Data Every 5 Mins and Insert</a:t>
            </a:r>
          </a:p>
          <a:p>
            <a:pPr marL="457200" lvl="1" indent="0">
              <a:buNone/>
            </a:pPr>
            <a:r>
              <a:rPr lang="en-US" sz="1400" dirty="0"/>
              <a:t>CREATE OR REPLACE TASK mytask1</a:t>
            </a:r>
          </a:p>
          <a:p>
            <a:pPr marL="457200" lvl="1" indent="0">
              <a:buNone/>
            </a:pPr>
            <a:r>
              <a:rPr lang="en-US" sz="1400" dirty="0"/>
              <a:t>  WAREHOUSE = </a:t>
            </a:r>
            <a:r>
              <a:rPr lang="en-US" sz="1400" dirty="0" err="1"/>
              <a:t>mywh</a:t>
            </a:r>
            <a:endParaRPr lang="en-US" sz="1400" dirty="0"/>
          </a:p>
          <a:p>
            <a:pPr marL="457200" lvl="1" indent="0">
              <a:buNone/>
            </a:pPr>
            <a:r>
              <a:rPr lang="en-US" sz="1400" dirty="0"/>
              <a:t>  SCHEDULE = '5 minute'</a:t>
            </a:r>
          </a:p>
          <a:p>
            <a:pPr marL="457200" lvl="1" indent="0">
              <a:buNone/>
            </a:pPr>
            <a:r>
              <a:rPr lang="en-US" sz="1400" dirty="0"/>
              <a:t>WHEN</a:t>
            </a:r>
          </a:p>
          <a:p>
            <a:pPr marL="457200" lvl="1" indent="0">
              <a:buNone/>
            </a:pPr>
            <a:r>
              <a:rPr lang="en-US" sz="1400" dirty="0"/>
              <a:t>  SYSTEM$STREAM_HAS_DATA('MYSTREAM')</a:t>
            </a:r>
          </a:p>
          <a:p>
            <a:pPr marL="457200" lvl="1" indent="0">
              <a:buNone/>
            </a:pPr>
            <a:r>
              <a:rPr lang="en-US" sz="1400" dirty="0"/>
              <a:t>AS</a:t>
            </a:r>
          </a:p>
          <a:p>
            <a:pPr marL="457200" lvl="1" indent="0">
              <a:buNone/>
            </a:pPr>
            <a:r>
              <a:rPr lang="en-US" sz="1400" dirty="0"/>
              <a:t>  INSERT INTO mytable1(</a:t>
            </a:r>
            <a:r>
              <a:rPr lang="en-US" sz="1400" dirty="0" err="1"/>
              <a:t>id,name</a:t>
            </a:r>
            <a:r>
              <a:rPr lang="en-US" sz="1400" dirty="0"/>
              <a:t>) SELECT id, name FROM </a:t>
            </a:r>
            <a:r>
              <a:rPr lang="en-US" sz="1400" dirty="0" err="1"/>
              <a:t>mystream</a:t>
            </a:r>
            <a:r>
              <a:rPr lang="en-US" sz="1400" dirty="0"/>
              <a:t> WHERE METADATA$ACTION = 'INSERT';</a:t>
            </a:r>
          </a:p>
          <a:p>
            <a:pPr marL="0" indent="0">
              <a:buNone/>
            </a:pPr>
            <a:endParaRPr lang="en-US" sz="1800" b="1"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FC2B7689-0E2B-41EF-B065-04B135CC502B}"/>
              </a:ext>
            </a:extLst>
          </p:cNvPr>
          <p:cNvPicPr>
            <a:picLocks noChangeAspect="1"/>
          </p:cNvPicPr>
          <p:nvPr/>
        </p:nvPicPr>
        <p:blipFill>
          <a:blip r:embed="rId2"/>
          <a:stretch>
            <a:fillRect/>
          </a:stretch>
        </p:blipFill>
        <p:spPr>
          <a:xfrm>
            <a:off x="261937" y="1619250"/>
            <a:ext cx="8067675" cy="2352675"/>
          </a:xfrm>
          <a:prstGeom prst="rect">
            <a:avLst/>
          </a:prstGeom>
        </p:spPr>
      </p:pic>
    </p:spTree>
    <p:extLst>
      <p:ext uri="{BB962C8B-B14F-4D97-AF65-F5344CB8AC3E}">
        <p14:creationId xmlns:p14="http://schemas.microsoft.com/office/powerpoint/2010/main" val="2276323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Tasks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8"/>
            <a:ext cx="12068175" cy="6145822"/>
          </a:xfrm>
        </p:spPr>
        <p:txBody>
          <a:bodyPr>
            <a:normAutofit/>
          </a:bodyPr>
          <a:lstStyle/>
          <a:p>
            <a:r>
              <a:rPr lang="en-US" dirty="0"/>
              <a:t>Tasks</a:t>
            </a:r>
          </a:p>
          <a:p>
            <a:pPr marL="457200" lvl="1" indent="0">
              <a:buNone/>
            </a:pPr>
            <a:r>
              <a:rPr lang="en-US" sz="1400" b="1" dirty="0"/>
              <a:t>More Examples :</a:t>
            </a:r>
          </a:p>
          <a:p>
            <a:pPr marL="457200" lvl="1" indent="0">
              <a:buNone/>
            </a:pPr>
            <a:r>
              <a:rPr lang="en-US" sz="1400" dirty="0"/>
              <a:t>-- Tree Of Tasks</a:t>
            </a:r>
          </a:p>
          <a:p>
            <a:pPr marL="457200" lvl="1" indent="0">
              <a:buNone/>
            </a:pPr>
            <a:r>
              <a:rPr lang="en-US" sz="1400" dirty="0"/>
              <a:t>CREATE OR REPLACE TASK mytask2</a:t>
            </a:r>
          </a:p>
          <a:p>
            <a:pPr marL="457200" lvl="1" indent="0">
              <a:buNone/>
            </a:pPr>
            <a:r>
              <a:rPr lang="en-US" sz="1400" dirty="0"/>
              <a:t>  WAREHOUSE = </a:t>
            </a:r>
            <a:r>
              <a:rPr lang="en-US" sz="1400" dirty="0" err="1"/>
              <a:t>mywh</a:t>
            </a:r>
            <a:endParaRPr lang="en-US" sz="1400" dirty="0"/>
          </a:p>
          <a:p>
            <a:pPr marL="457200" lvl="1" indent="0">
              <a:buNone/>
            </a:pPr>
            <a:r>
              <a:rPr lang="en-US" sz="1400" dirty="0"/>
              <a:t>  AFTER mytask1</a:t>
            </a:r>
          </a:p>
          <a:p>
            <a:pPr marL="457200" lvl="1" indent="0">
              <a:buNone/>
            </a:pPr>
            <a:r>
              <a:rPr lang="en-US" sz="1400" dirty="0"/>
              <a:t>AS</a:t>
            </a:r>
          </a:p>
          <a:p>
            <a:pPr marL="457200" lvl="1" indent="0">
              <a:buNone/>
            </a:pPr>
            <a:r>
              <a:rPr lang="en-US" sz="1400" dirty="0"/>
              <a:t>INSERT INTO mytable2(</a:t>
            </a:r>
            <a:r>
              <a:rPr lang="en-US" sz="1400" dirty="0" err="1"/>
              <a:t>id,name</a:t>
            </a:r>
            <a:r>
              <a:rPr lang="en-US" sz="1400" dirty="0"/>
              <a:t>) SELECT id, name FROM mytable1; </a:t>
            </a:r>
          </a:p>
          <a:p>
            <a:pPr marL="457200" lvl="1" indent="0">
              <a:buNone/>
            </a:pPr>
            <a:endParaRPr lang="en-US" sz="1400" dirty="0"/>
          </a:p>
          <a:p>
            <a:pPr marL="457200" lvl="1" indent="0">
              <a:buNone/>
            </a:pPr>
            <a:r>
              <a:rPr lang="en-US" sz="1400" dirty="0"/>
              <a:t>-- Create a task that calls the stored procedure every hour</a:t>
            </a:r>
          </a:p>
          <a:p>
            <a:pPr marL="457200" lvl="1" indent="0">
              <a:buNone/>
            </a:pPr>
            <a:r>
              <a:rPr lang="en-US" sz="1400" dirty="0"/>
              <a:t>create or replace task mytask1</a:t>
            </a:r>
          </a:p>
          <a:p>
            <a:pPr marL="457200" lvl="1" indent="0">
              <a:buNone/>
            </a:pPr>
            <a:r>
              <a:rPr lang="en-US" sz="1400" dirty="0"/>
              <a:t>  warehouse = </a:t>
            </a:r>
            <a:r>
              <a:rPr lang="en-US" sz="1400" dirty="0" err="1"/>
              <a:t>mywh</a:t>
            </a:r>
            <a:endParaRPr lang="en-US" sz="1400" dirty="0"/>
          </a:p>
          <a:p>
            <a:pPr marL="457200" lvl="1" indent="0">
              <a:buNone/>
            </a:pPr>
            <a:r>
              <a:rPr lang="en-US" sz="1400" dirty="0"/>
              <a:t>  schedule = '60 minute'</a:t>
            </a:r>
          </a:p>
          <a:p>
            <a:pPr marL="457200" lvl="1" indent="0">
              <a:buNone/>
            </a:pPr>
            <a:r>
              <a:rPr lang="en-US" sz="1400" dirty="0"/>
              <a:t>as</a:t>
            </a:r>
          </a:p>
          <a:p>
            <a:pPr marL="457200" lvl="1" indent="0">
              <a:buNone/>
            </a:pPr>
            <a:r>
              <a:rPr lang="en-US" sz="1400" dirty="0"/>
              <a:t>  call </a:t>
            </a:r>
            <a:r>
              <a:rPr lang="en-US" sz="1400" dirty="0" err="1"/>
              <a:t>my_unload_sp</a:t>
            </a:r>
            <a:r>
              <a:rPr lang="en-US" sz="1400" dirty="0"/>
              <a:t>();</a:t>
            </a:r>
          </a:p>
          <a:p>
            <a:r>
              <a:rPr lang="en-US" sz="1800" b="1" dirty="0" err="1"/>
              <a:t>system$task_dependents_enable</a:t>
            </a:r>
            <a:endParaRPr lang="en-US" sz="1800" b="1" dirty="0"/>
          </a:p>
          <a:p>
            <a:pPr marL="457200" lvl="1" indent="0">
              <a:buNone/>
            </a:pPr>
            <a:r>
              <a:rPr lang="en-US" sz="1400" dirty="0"/>
              <a:t>select </a:t>
            </a:r>
            <a:r>
              <a:rPr lang="en-US" sz="1400" dirty="0" err="1"/>
              <a:t>system$task_dependents_enable</a:t>
            </a:r>
            <a:r>
              <a:rPr lang="en-US" sz="1400" dirty="0"/>
              <a:t>('</a:t>
            </a:r>
            <a:r>
              <a:rPr lang="en-US" sz="1400" dirty="0" err="1"/>
              <a:t>mydb.myschema.mytask</a:t>
            </a:r>
            <a:r>
              <a:rPr lang="en-US" sz="1400" dirty="0"/>
              <a:t>');</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8030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Tasks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8"/>
            <a:ext cx="12068175" cy="6145822"/>
          </a:xfrm>
        </p:spPr>
        <p:txBody>
          <a:bodyPr>
            <a:normAutofit/>
          </a:bodyPr>
          <a:lstStyle/>
          <a:p>
            <a:r>
              <a:rPr lang="en-US" dirty="0" err="1"/>
              <a:t>Task_History</a:t>
            </a:r>
            <a:endParaRPr lang="en-US" dirty="0"/>
          </a:p>
          <a:p>
            <a:pPr marL="457200" lvl="1" indent="0">
              <a:buNone/>
            </a:pPr>
            <a:r>
              <a:rPr lang="en-US" sz="1400" b="1" dirty="0"/>
              <a:t>--Retrieve the 100 most recent task executions (completed, still running, or scheduled in the future) in the current database and schema:</a:t>
            </a:r>
          </a:p>
          <a:p>
            <a:pPr marL="457200" lvl="1" indent="0">
              <a:buNone/>
            </a:pPr>
            <a:r>
              <a:rPr lang="en-US" sz="1400" b="1" dirty="0"/>
              <a:t> select *</a:t>
            </a:r>
          </a:p>
          <a:p>
            <a:pPr marL="457200" lvl="1" indent="0">
              <a:buNone/>
            </a:pPr>
            <a:r>
              <a:rPr lang="en-US" sz="1400" b="1" dirty="0"/>
              <a:t>  from table(</a:t>
            </a:r>
            <a:r>
              <a:rPr lang="en-US" sz="1400" b="1" dirty="0" err="1"/>
              <a:t>information_schema.task_history</a:t>
            </a:r>
            <a:r>
              <a:rPr lang="en-US" sz="1400" b="1" dirty="0"/>
              <a:t>())</a:t>
            </a:r>
          </a:p>
          <a:p>
            <a:pPr marL="457200" lvl="1" indent="0">
              <a:buNone/>
            </a:pPr>
            <a:r>
              <a:rPr lang="en-US" sz="1400" b="1" dirty="0"/>
              <a:t>  order by </a:t>
            </a:r>
            <a:r>
              <a:rPr lang="en-US" sz="1400" b="1" dirty="0" err="1"/>
              <a:t>scheduled_time</a:t>
            </a:r>
            <a:r>
              <a:rPr lang="en-US" sz="1400" b="1" dirty="0"/>
              <a:t>;</a:t>
            </a:r>
          </a:p>
          <a:p>
            <a:pPr marL="457200" lvl="1" indent="0">
              <a:buNone/>
            </a:pPr>
            <a:endParaRPr lang="en-US" sz="1400" b="1" dirty="0"/>
          </a:p>
          <a:p>
            <a:pPr marL="457200" lvl="1" indent="0">
              <a:buNone/>
            </a:pPr>
            <a:r>
              <a:rPr lang="en-US" sz="1400" b="1" dirty="0"/>
              <a:t>--Retrieve the execution history for tasks in the current database and schema within a specified 30 minute block of time within the past 7 days:</a:t>
            </a:r>
          </a:p>
          <a:p>
            <a:pPr marL="457200" lvl="1" indent="0">
              <a:buNone/>
            </a:pPr>
            <a:r>
              <a:rPr lang="en-US" sz="1400" b="1" dirty="0"/>
              <a:t> select *</a:t>
            </a:r>
          </a:p>
          <a:p>
            <a:pPr marL="457200" lvl="1" indent="0">
              <a:buNone/>
            </a:pPr>
            <a:r>
              <a:rPr lang="en-US" sz="1400" b="1" dirty="0"/>
              <a:t>  from table(</a:t>
            </a:r>
            <a:r>
              <a:rPr lang="en-US" sz="1400" b="1" dirty="0" err="1"/>
              <a:t>information_schema.task_history</a:t>
            </a:r>
            <a:r>
              <a:rPr lang="en-US" sz="1400" b="1" dirty="0"/>
              <a:t>(</a:t>
            </a:r>
          </a:p>
          <a:p>
            <a:pPr marL="457200" lvl="1" indent="0">
              <a:buNone/>
            </a:pPr>
            <a:r>
              <a:rPr lang="en-US" sz="1400" b="1" dirty="0"/>
              <a:t>    </a:t>
            </a:r>
            <a:r>
              <a:rPr lang="en-US" sz="1400" b="1" dirty="0" err="1"/>
              <a:t>scheduled_time_range_start</a:t>
            </a:r>
            <a:r>
              <a:rPr lang="en-US" sz="1400" b="1" dirty="0"/>
              <a:t>=&gt;</a:t>
            </a:r>
            <a:r>
              <a:rPr lang="en-US" sz="1400" b="1" dirty="0" err="1"/>
              <a:t>to_timestamp_ltz</a:t>
            </a:r>
            <a:r>
              <a:rPr lang="en-US" sz="1400" b="1" dirty="0"/>
              <a:t>('2018-11-9 12:00:00.000 -0700'),</a:t>
            </a:r>
          </a:p>
          <a:p>
            <a:pPr marL="457200" lvl="1" indent="0">
              <a:buNone/>
            </a:pPr>
            <a:r>
              <a:rPr lang="en-US" sz="1400" b="1" dirty="0"/>
              <a:t>    </a:t>
            </a:r>
            <a:r>
              <a:rPr lang="en-US" sz="1400" b="1" dirty="0" err="1"/>
              <a:t>scheduled_time_range_end</a:t>
            </a:r>
            <a:r>
              <a:rPr lang="en-US" sz="1400" b="1" dirty="0"/>
              <a:t>=&gt;</a:t>
            </a:r>
            <a:r>
              <a:rPr lang="en-US" sz="1400" b="1" dirty="0" err="1"/>
              <a:t>to_timestamp_ltz</a:t>
            </a:r>
            <a:r>
              <a:rPr lang="en-US" sz="1400" b="1" dirty="0"/>
              <a:t>('2018-11-9 12:30:00.000 -0700')));</a:t>
            </a:r>
          </a:p>
          <a:p>
            <a:pPr marL="457200" lvl="1" indent="0">
              <a:buNone/>
            </a:pPr>
            <a:endParaRPr lang="en-US" sz="1400" b="1" dirty="0"/>
          </a:p>
          <a:p>
            <a:pPr marL="457200" lvl="1" indent="0">
              <a:buNone/>
            </a:pPr>
            <a:r>
              <a:rPr lang="en-US" sz="1400" b="1" dirty="0"/>
              <a:t>--Retrieve the 10 most recent executions of a specified task (completed, still running, or scheduled in the future) scheduled within the last hour:</a:t>
            </a:r>
          </a:p>
          <a:p>
            <a:pPr marL="457200" lvl="1" indent="0">
              <a:buNone/>
            </a:pPr>
            <a:r>
              <a:rPr lang="en-US" sz="1400" b="1" dirty="0"/>
              <a:t>select *</a:t>
            </a:r>
          </a:p>
          <a:p>
            <a:pPr marL="457200" lvl="1" indent="0">
              <a:buNone/>
            </a:pPr>
            <a:r>
              <a:rPr lang="en-US" sz="1400" b="1" dirty="0"/>
              <a:t>  from table(</a:t>
            </a:r>
            <a:r>
              <a:rPr lang="en-US" sz="1400" b="1" dirty="0" err="1"/>
              <a:t>information_schema.task_history</a:t>
            </a:r>
            <a:r>
              <a:rPr lang="en-US" sz="1400" b="1" dirty="0"/>
              <a:t>(</a:t>
            </a:r>
          </a:p>
          <a:p>
            <a:pPr marL="457200" lvl="1" indent="0">
              <a:buNone/>
            </a:pPr>
            <a:r>
              <a:rPr lang="en-US" sz="1400" b="1" dirty="0"/>
              <a:t>    </a:t>
            </a:r>
            <a:r>
              <a:rPr lang="en-US" sz="1400" b="1" dirty="0" err="1"/>
              <a:t>scheduled_time_range_start</a:t>
            </a:r>
            <a:r>
              <a:rPr lang="en-US" sz="1400" b="1" dirty="0"/>
              <a:t>=&gt;</a:t>
            </a:r>
            <a:r>
              <a:rPr lang="en-US" sz="1400" b="1" dirty="0" err="1"/>
              <a:t>dateadd</a:t>
            </a:r>
            <a:r>
              <a:rPr lang="en-US" sz="1400" b="1" dirty="0"/>
              <a:t>('hour',-1,current_timestamp()),</a:t>
            </a:r>
          </a:p>
          <a:p>
            <a:pPr marL="457200" lvl="1" indent="0">
              <a:buNone/>
            </a:pPr>
            <a:r>
              <a:rPr lang="en-US" sz="1400" b="1" dirty="0"/>
              <a:t>    </a:t>
            </a:r>
            <a:r>
              <a:rPr lang="en-US" sz="1400" b="1" dirty="0" err="1"/>
              <a:t>result_limit</a:t>
            </a:r>
            <a:r>
              <a:rPr lang="en-US" sz="1400" b="1" dirty="0"/>
              <a:t> =&gt; 10,</a:t>
            </a:r>
          </a:p>
          <a:p>
            <a:pPr marL="457200" lvl="1" indent="0">
              <a:buNone/>
            </a:pPr>
            <a:r>
              <a:rPr lang="en-US" sz="1400" b="1" dirty="0"/>
              <a:t>    </a:t>
            </a:r>
            <a:r>
              <a:rPr lang="en-US" sz="1400" b="1" dirty="0" err="1"/>
              <a:t>task_name</a:t>
            </a:r>
            <a:r>
              <a:rPr lang="en-US" sz="1400" b="1" dirty="0"/>
              <a:t>=&gt;'MYTASK’));</a:t>
            </a:r>
          </a:p>
          <a:p>
            <a:pPr marL="457200" lvl="1" indent="0">
              <a:buNone/>
            </a:pPr>
            <a:endParaRPr lang="en-US" sz="1400" b="1" dirty="0"/>
          </a:p>
          <a:p>
            <a:pPr marL="457200" lvl="1" indent="0">
              <a:buNone/>
            </a:pPr>
            <a:r>
              <a:rPr lang="en-US" sz="1400" b="1" dirty="0"/>
              <a:t>--Retrieve only tasks that are completed or still running</a:t>
            </a:r>
          </a:p>
          <a:p>
            <a:pPr marL="457200" lvl="1" indent="0">
              <a:buNone/>
            </a:pPr>
            <a:r>
              <a:rPr lang="en-US" sz="1400" b="1" dirty="0"/>
              <a:t>select *</a:t>
            </a:r>
          </a:p>
          <a:p>
            <a:pPr marL="457200" lvl="1" indent="0">
              <a:buNone/>
            </a:pPr>
            <a:r>
              <a:rPr lang="en-US" sz="1400" b="1" dirty="0"/>
              <a:t>  from table(</a:t>
            </a:r>
            <a:r>
              <a:rPr lang="en-US" sz="1400" b="1" dirty="0" err="1"/>
              <a:t>information_schema.task_history</a:t>
            </a:r>
            <a:r>
              <a:rPr lang="en-US" sz="1400" b="1" dirty="0"/>
              <a:t>())</a:t>
            </a:r>
          </a:p>
          <a:p>
            <a:pPr marL="457200" lvl="1" indent="0">
              <a:buNone/>
            </a:pPr>
            <a:r>
              <a:rPr lang="en-US" sz="1400" b="1" dirty="0"/>
              <a:t>Where </a:t>
            </a:r>
            <a:r>
              <a:rPr lang="en-US" sz="1400" b="1" dirty="0" err="1"/>
              <a:t>query_id</a:t>
            </a:r>
            <a:r>
              <a:rPr lang="en-US" sz="1400" b="1" dirty="0"/>
              <a:t> is not null;</a:t>
            </a:r>
          </a:p>
          <a:p>
            <a:pPr marL="457200" lvl="1" indent="0">
              <a:buNone/>
            </a:pPr>
            <a:endParaRPr lang="en-US" sz="1400" b="1" dirty="0"/>
          </a:p>
          <a:p>
            <a:pPr marL="457200" lvl="1" indent="0">
              <a:buNone/>
            </a:pPr>
            <a:endParaRPr lang="en-US" sz="1400" b="1"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99598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9713</TotalTime>
  <Words>1805</Words>
  <Application>Microsoft Office PowerPoint</Application>
  <PresentationFormat>Widescreen</PresentationFormat>
  <Paragraphs>217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Snowflake – Data Pipelines</vt:lpstr>
      <vt:lpstr>Snowflake – Data Pipelines</vt:lpstr>
      <vt:lpstr>Snowflake – Data Pipelines</vt:lpstr>
      <vt:lpstr>Snowflake – Data Pipe Lines</vt:lpstr>
      <vt:lpstr>Snowflake – Data Pipe Lines</vt:lpstr>
      <vt:lpstr>Snowflake – Data Pipe Lines</vt:lpstr>
      <vt:lpstr>Snowflake – Data Pipe Lines</vt:lpstr>
      <vt:lpstr>Snowflake – Data Pipe Lines</vt:lpstr>
      <vt:lpstr>Snowflake – Tasks</vt:lpstr>
      <vt:lpstr>Snowflake – Tasks</vt:lpstr>
      <vt:lpstr>Snowflake – Tasks</vt:lpstr>
      <vt:lpstr>Snowflake – Tasks</vt:lpstr>
      <vt:lpstr>Snowflake – Tasks</vt:lpstr>
      <vt:lpstr>Snowflake – Tasks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Snowflake – Data Pipe Lines</dc:title>
  <dc:creator>Sekhar Modem -X (smodem - WIPRO LIMITED at Cisco)</dc:creator>
  <cp:lastModifiedBy>Laasya 🍒</cp:lastModifiedBy>
  <cp:revision>73</cp:revision>
  <dcterms:created xsi:type="dcterms:W3CDTF">2019-08-23T12:32:28Z</dcterms:created>
  <dcterms:modified xsi:type="dcterms:W3CDTF">2021-01-07T03:18:35Z</dcterms:modified>
</cp:coreProperties>
</file>